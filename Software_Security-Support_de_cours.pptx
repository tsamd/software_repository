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62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notesMaster" Target="notesMasters/notesMaster1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231" Type="http://schemas.openxmlformats.org/officeDocument/2006/relationships/presProps" Target="presProps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viewProps" Target="view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theme" Target="theme/theme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04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 de cours complet (diapositives à projeter). Premier bloc : Unité 1 (introduction) et Unité 2 (sécurité mémoire).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Corriger l'idee repandue surface = vulnerabilites. Insister : points d'entree exposes. Exemple : une API REST avec 20 routes a une surface plus grande qu'avec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Relier au cours : cote client = emetteur non fiable, cote serveur = ou l'on valide. Prepare la diapo defense en profondeur client/serveur.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la modelisation se fait AVANT de coder. Un simple schema de flux + STRIDE suffit en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Mnemo : chaque menace STRIDE casse une propriete. Spoofing/Authenticite, Tampering/Integrite, Repudiation/Auditabilite, Info/Confidentialite, DoS/Disponibilite, Elevation/Autorisation.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rapide : lister 3 actifs d'une appli et, pour chacun, la propriete CIAAA prioritaire.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 : une menace seule n'est pas un risque ; il faut une vulnerabilite ET un impact. C'est ce qui justifie la priorisation.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Matrice qualitative 3x3. Traiter d'abord Critique/Eleve. Prepare CVSS (U10) qui quantifie la gravite.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: contre une injection SQL, la requete parametree est preventive ; la journalisation est detective. Montrer qu'aucune n'est parfaite.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cle : on n'elimine pas le risque, on le ramene a un niveau acceptable et on l'assume en connaissance de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Relie aux labos : SAST + test cible + re-test apres correctif (U9/U11), toujours sur son propre systeme et sans casser les donnees.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: ne jamais faire confiance au client. Exemple concret : desactiver le JS cote client contourne toute 'validation'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566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4220"/>
            <a:ext cx="10566400" cy="411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566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4220"/>
            <a:ext cx="10566400" cy="411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linegdb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502932"/>
            <a:ext cx="889000" cy="508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782332"/>
            <a:ext cx="10883392" cy="82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24"/>
              </a:lnSpc>
              <a:buNone/>
            </a:pPr>
            <a:r>
              <a:rPr lang="en-US" sz="62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Software Security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812800" y="3814048"/>
            <a:ext cx="1088339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de cours · Ibtissam Derfoufi  - EPHEC 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2800" y="6238240"/>
            <a:ext cx="4407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 vulnérabilité à l'exploitation, puis à la défense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OUVERTURE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 que vous saurez faire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1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la fin du cours, vous êtes capable de 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39470" y="2338070"/>
            <a:ext cx="10850626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Identifier et expliquer les vulnérabilités logicielles les plus courantes.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exploiter en labo pour comprendre leur impact réel.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Évaluer le risque, la gravité et l'exploitabilité d'une faille.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Choisir et appliquer les contre-mesures et pratiques de développement sécurisé.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Concevoir un système logiciel selon l'état de l'art de la sécurité.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OUVERTURE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1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déroulé du cours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11"/>
            <a:ext cx="53108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PARTIE 1 — MÉMOIRE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3313" y="2045970"/>
            <a:ext cx="5264277" cy="146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687" indent="-162687" algn="l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Introduction à la sécurité</a:t>
            </a:r>
            <a:endParaRPr lang="en-US" sz="1350" dirty="0"/>
          </a:p>
          <a:p>
            <a:pPr marL="162687" indent="-162687" algn="l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Mémoire &amp; stack overflow</a:t>
            </a:r>
            <a:endParaRPr lang="en-US" sz="1350" dirty="0"/>
          </a:p>
          <a:p>
            <a:pPr marL="162687" indent="-162687" algn="l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Heap &amp; erreurs temporelles</a:t>
            </a:r>
            <a:endParaRPr lang="en-US" sz="1350" dirty="0"/>
          </a:p>
          <a:p>
            <a:pPr marL="162687" indent="-162687" algn="l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Défenses &amp; contournements</a:t>
            </a:r>
            <a:endParaRPr lang="en-US" sz="1350" dirty="0"/>
          </a:p>
          <a:p>
            <a:pPr marL="162687" indent="-162687" algn="l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Analyse de binaires</a:t>
            </a:r>
            <a:endParaRPr lang="en-US" sz="1350" dirty="0"/>
          </a:p>
          <a:p>
            <a:pPr marL="162687" indent="-162687" algn="l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Langages memory-safe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23000" y="1832611"/>
            <a:ext cx="53108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PARTIE 2 — APPLICATIF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63513" y="2045970"/>
            <a:ext cx="5264277" cy="146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687" indent="-162687" algn="l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Injection &amp; SQLi</a:t>
            </a:r>
            <a:endParaRPr lang="en-US" sz="1350" dirty="0"/>
          </a:p>
          <a:p>
            <a:pPr marL="162687" indent="-162687" algn="l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Commandes, path, XSS</a:t>
            </a:r>
            <a:endParaRPr lang="en-US" sz="1350" dirty="0"/>
          </a:p>
          <a:p>
            <a:pPr marL="162687" indent="-162687" algn="l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 Bonnes pratiques &amp; SAST</a:t>
            </a:r>
            <a:endParaRPr lang="en-US" sz="1350" dirty="0"/>
          </a:p>
          <a:p>
            <a:pPr marL="162687" indent="-162687" algn="l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 Taint, risque, CVSS</a:t>
            </a:r>
            <a:endParaRPr lang="en-US" sz="1350" dirty="0"/>
          </a:p>
          <a:p>
            <a:pPr marL="162687" indent="-162687" algn="l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 Fuzzing</a:t>
            </a:r>
            <a:endParaRPr lang="en-US" sz="1350" dirty="0"/>
          </a:p>
          <a:p>
            <a:pPr marL="162687" indent="-162687" algn="l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 Projet de synthèse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OUVERTURE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1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Comment on travaille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11"/>
            <a:ext cx="3403600" cy="3173730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11"/>
            <a:ext cx="3403600" cy="3173730"/>
          </a:xfrm>
          <a:custGeom>
            <a:avLst/>
            <a:gdLst/>
            <a:ahLst/>
            <a:cxnLst/>
            <a:rect l="l" t="t" r="r" b="b"/>
            <a:pathLst>
              <a:path w="3403600" h="317373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Théorie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concept par idée, illustré par du code et des schémas.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32611"/>
            <a:ext cx="3403600" cy="3173730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94200" y="1832611"/>
            <a:ext cx="3403600" cy="3173730"/>
          </a:xfrm>
          <a:custGeom>
            <a:avLst/>
            <a:gdLst/>
            <a:ahLst/>
            <a:cxnLst/>
            <a:rect l="l" t="t" r="r" b="b"/>
            <a:pathLst>
              <a:path w="3403600" h="317373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6228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28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Environnement Docker reproductible : gdb, ASan, AFL++, Juice Shop.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32611"/>
            <a:ext cx="3403600" cy="3173730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75600" y="1832611"/>
            <a:ext cx="3403600" cy="3173730"/>
          </a:xfrm>
          <a:custGeom>
            <a:avLst/>
            <a:gdLst/>
            <a:ahLst/>
            <a:cxnLst/>
            <a:rect l="l" t="t" r="r" b="b"/>
            <a:pathLst>
              <a:path w="3403600" h="317373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2042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Rapport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42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labo donne lieu à un court rapport (évaluation continue).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5209541"/>
            <a:ext cx="10566400" cy="835660"/>
          </a:xfrm>
          <a:prstGeom prst="roundRect">
            <a:avLst>
              <a:gd name="adj" fmla="val 9119"/>
            </a:avLst>
          </a:prstGeom>
          <a:solidFill>
            <a:srgbClr val="FFFFFF"/>
          </a:solidFill>
          <a:ln/>
        </p:spPr>
        <p:txBody>
          <a:bodyPr wrap="square" lIns="257082" tIns="155482" rIns="0" bIns="1300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2C6E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Zéro installation :</a:t>
            </a: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50" u="sng" dirty="0">
                <a:solidFill>
                  <a:srgbClr val="2C6E8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onlinegdb.com</a:t>
            </a: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compile et débogue du C dans le navigateur — parfait pour la remise à niveau C et pour observer un crash. L'exploitation réelle (protections désactivées) se fait ensuite sur l'image Docker.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2800" y="5209541"/>
            <a:ext cx="10566400" cy="835660"/>
          </a:xfrm>
          <a:custGeom>
            <a:avLst/>
            <a:gdLst/>
            <a:ahLst/>
            <a:cxnLst/>
            <a:rect l="l" t="t" r="r" b="b"/>
            <a:pathLst>
              <a:path w="10566400" h="835660">
                <a:moveTo>
                  <a:pt x="76200" y="835660"/>
                </a:moveTo>
                <a:lnTo>
                  <a:pt x="76200" y="8356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75946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OUVERTURE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1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Évaluation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11"/>
            <a:ext cx="5194300" cy="3760470"/>
          </a:xfrm>
          <a:prstGeom prst="roundRect">
            <a:avLst>
              <a:gd name="adj" fmla="val 23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11"/>
            <a:ext cx="5194300" cy="3760470"/>
          </a:xfrm>
          <a:custGeom>
            <a:avLst/>
            <a:gdLst/>
            <a:ahLst/>
            <a:cxnLst/>
            <a:rect l="l" t="t" r="r" b="b"/>
            <a:pathLst>
              <a:path w="5194300" h="376047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Intermédiaire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 de la Partie 1 : défi d'exploitation mémoire + rapport.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11"/>
            <a:ext cx="5194300" cy="3760470"/>
          </a:xfrm>
          <a:prstGeom prst="roundRect">
            <a:avLst>
              <a:gd name="adj" fmla="val 23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11"/>
            <a:ext cx="5194300" cy="3760470"/>
          </a:xfrm>
          <a:custGeom>
            <a:avLst/>
            <a:gdLst/>
            <a:ahLst/>
            <a:cxnLst/>
            <a:rect l="l" t="t" r="r" b="b"/>
            <a:pathLst>
              <a:path w="5194300" h="376047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 : analyser une appli vulnérable, puis concevoir un système sécurisé.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579628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Critères : pertinence des solutions, respect du temps, cohérence de la justification, précision du vocabulaire technique.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8223"/>
            <a:ext cx="10883392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9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551873"/>
            <a:ext cx="10883392" cy="54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 à la sécurité logicielle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2800" y="4249738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Vocabulaire, menaces et principes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1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Qu'est-ce que la sécurité logicielle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11"/>
            <a:ext cx="10566400" cy="181610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11"/>
            <a:ext cx="10566400" cy="1816100"/>
          </a:xfrm>
          <a:custGeom>
            <a:avLst/>
            <a:gdLst/>
            <a:ahLst/>
            <a:cxnLst/>
            <a:rect l="l" t="t" r="r" b="b"/>
            <a:pathLst>
              <a:path w="10566400" h="1816100">
                <a:moveTo>
                  <a:pt x="76200" y="1816100"/>
                </a:moveTo>
                <a:lnTo>
                  <a:pt x="76200" y="18161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739900"/>
                </a:lnTo>
                <a:arcTo wR="25400" hR="76200" stAng="108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11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Sécurité logicielle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71"/>
            <a:ext cx="1020318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propriété qu'un système continue à se comporter comme spécifié </a:t>
            </a: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même en présence d'un adversaire</a:t>
            </a: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qui forge des entrées, influence l'environnement ou observe le système pour violer sa confidentialité, son intégrité ou sa disponibilité.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2348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940050"/>
            <a:ext cx="10883392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Fiabilité ≠ sécurité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729989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fiabilité demande : « est-ce que ça marche quand on s'en sert normalement ? » La sécurité demande : « est-ce que ça reste correct quand quelqu'un essaie activement de le casser ? »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4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L'adversaire change tout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14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test vérifie ce qu'un utilisateur </a:t>
            </a:r>
            <a:r>
              <a:rPr lang="en-US" sz="1700" i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</a:t>
            </a: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Un attaquant explore ce qu'un utilisateur </a:t>
            </a:r>
            <a:r>
              <a:rPr lang="en-US" sz="1700" i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ferait jamais</a:t>
            </a: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39470" y="2338071"/>
            <a:ext cx="1085062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choisit ses entrées pour déclencher le pire cas, pas le cas moyen.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combine des composants sûrs pour créer un système non sûr.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dispose de temps, d'outils et d'une seule faille à trouver.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4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triade 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14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14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Confidentialité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Seuls les lecteurs autorisés accèdent à l'information.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32614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94200" y="1832614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6228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Intégrité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28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données ne sont pas modifiées en silence.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32614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75600" y="1832614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2042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Disponibilité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42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service reste opérationnel sous charge ou sous attaque.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4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Confidentialité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14"/>
            <a:ext cx="10566400" cy="153162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14"/>
            <a:ext cx="10566400" cy="1531620"/>
          </a:xfrm>
          <a:custGeom>
            <a:avLst/>
            <a:gdLst/>
            <a:ahLst/>
            <a:cxnLst/>
            <a:rect l="l" t="t" r="r" b="b"/>
            <a:pathLst>
              <a:path w="10566400" h="1531620">
                <a:moveTo>
                  <a:pt x="76200" y="1531620"/>
                </a:moveTo>
                <a:lnTo>
                  <a:pt x="76200" y="15316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55420"/>
                </a:lnTo>
                <a:arcTo wR="25400" hR="76200" stAng="108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14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Confidentialité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71"/>
            <a:ext cx="10203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Préserver les restrictions d'accès et de divulgation de l'information, y compris la protection de la vie privée et des données propriétaires.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567429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de violation : un disque non chiffré volé révèle les données clients.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4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Intégrité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14"/>
            <a:ext cx="10566400" cy="153162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14"/>
            <a:ext cx="10566400" cy="1531620"/>
          </a:xfrm>
          <a:custGeom>
            <a:avLst/>
            <a:gdLst/>
            <a:ahLst/>
            <a:cxnLst/>
            <a:rect l="l" t="t" r="r" b="b"/>
            <a:pathLst>
              <a:path w="10566400" h="1531620">
                <a:moveTo>
                  <a:pt x="76200" y="1531620"/>
                </a:moveTo>
                <a:lnTo>
                  <a:pt x="76200" y="15316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5542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14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Intégrité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71"/>
            <a:ext cx="10203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Protéger contre la modification ou la destruction incorrecte de l'information, y compris l'authenticité et la non-répudiation.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567429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de violation : un programme en production est modifié pour exécuter une tâche non prévue.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4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Disponibilité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14"/>
            <a:ext cx="10566400" cy="1247140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14"/>
            <a:ext cx="10566400" cy="1247140"/>
          </a:xfrm>
          <a:custGeom>
            <a:avLst/>
            <a:gdLst/>
            <a:ahLst/>
            <a:cxnLst/>
            <a:rect l="l" t="t" r="r" b="b"/>
            <a:pathLst>
              <a:path w="10566400" h="1247140">
                <a:moveTo>
                  <a:pt x="76200" y="1247140"/>
                </a:moveTo>
                <a:lnTo>
                  <a:pt x="76200" y="124714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170940"/>
                </a:lnTo>
                <a:arcTo wR="25400" hR="76200" stAng="108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14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Disponibilité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71"/>
            <a:ext cx="102031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Garantir un accès fiable et en temps voulu à l'information et aux services.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28295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de violation : une attaque par déni de service rend le site injoignable.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4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Souvent étendue : CIAAA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14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14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Authentification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Vérifier l'identité des utilisateurs, systèmes et entités avant de donner l'accès.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14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14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Traçabilité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Journaliser et contrôler les actions pour assurer le respect des politiques.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4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Pourquoi c'est difficile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582" y="1832614"/>
            <a:ext cx="10843514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Asymétrie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le défenseur doit tout fermer ; l'attaquant n'a besoin que d'une faille.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Composition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une bibliothèque sûre + un parseur sûr = un système non sûr à la jointure.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Entrées adverses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les tests couvrent l'usage normal, pas l'usage malveillant.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Mauvais défauts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des API faciles mais dangereuses (gets, eval…).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hérité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une faille de 2026 peut vivre dans du code de 1998.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30127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46685"/>
            <a:ext cx="10883392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défenseur doit tout fermer. L'attaquant n'a besoin que d'une faille.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4023358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l'asymétrie fondamentale de la sécurité, et la raison pour laquelle la défense en profondeur est indispensable.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Terminologie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08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08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ressource à protéger : données, service, système, personnel.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32608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94200" y="1832608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6228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Vulnérabilité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28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faiblesse exploitable dans le système ou ses contrôles.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32608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75600" y="1832608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2042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Menace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4200" y="2406650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circonstance capable d'exploiter une vulnérabilité et de nuire à un actif.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Terminologie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08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08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Attaque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menace mise à exécution : activité malveillante contre un système.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32608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94200" y="1832608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6228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Contre-mesure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2800" y="2406650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dispositif ou une technique qui prévient, détecte ou corrige une attaque.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32608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75600" y="1832608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2042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Risque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42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mesure de l'exposition : impact × probabilité.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risque se quantifie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08"/>
            <a:ext cx="10566400" cy="1247140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08"/>
            <a:ext cx="10566400" cy="1247140"/>
          </a:xfrm>
          <a:custGeom>
            <a:avLst/>
            <a:gdLst/>
            <a:ahLst/>
            <a:cxnLst/>
            <a:rect l="l" t="t" r="r" b="b"/>
            <a:pathLst>
              <a:path w="10566400" h="1247140">
                <a:moveTo>
                  <a:pt x="76200" y="1247140"/>
                </a:moveTo>
                <a:lnTo>
                  <a:pt x="76200" y="124714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170940"/>
                </a:lnTo>
                <a:arcTo wR="25400" hR="76200" stAng="108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08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Risque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77"/>
            <a:ext cx="102031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 = probabilité que la menace se réalise × coût pour l'organisation.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0044" y="3282950"/>
            <a:ext cx="1083005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classe les menaces par probabilité et par impact.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probabilités et coûts exacts sont difficiles — on utilise des échelles qualitatives.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l'exposition dépasse un seuil, on réévalue la viabilité du projet.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Attaques passives et actives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08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08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Passive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L'attaquant écoute sans modifier : interception, analyse de trafic. Difficile à détecter.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08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08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L'attaquant modifie : rejeu, usurpation, altération de messages, déni de service.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Surface d'attaque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08"/>
            <a:ext cx="10566400" cy="1414780"/>
          </a:xfrm>
          <a:prstGeom prst="roundRect">
            <a:avLst>
              <a:gd name="adj" fmla="val 53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08"/>
            <a:ext cx="10566400" cy="1414780"/>
          </a:xfrm>
          <a:custGeom>
            <a:avLst/>
            <a:gdLst/>
            <a:ahLst/>
            <a:cxnLst/>
            <a:rect l="l" t="t" r="r" b="b"/>
            <a:pathLst>
              <a:path w="10566400" h="1414780">
                <a:moveTo>
                  <a:pt x="76200" y="1414780"/>
                </a:moveTo>
                <a:lnTo>
                  <a:pt x="76200" y="141478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33858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43000" y="2086608"/>
            <a:ext cx="1025550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Surface d'attaque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459992"/>
            <a:ext cx="1025550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L'ensemble des points d'entrée par lesquels un attaquant peut interagir avec le système : interfaces, entrées, fonctionnalités et données exposées.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450592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n'est PAS la liste des vulnérabilités : c'est le périmètre exposé, qu'il contienne ou non des failles. Plus il est large, plus il y a d'occasions d'erreur.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4116077"/>
            <a:ext cx="11379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Réduire la surface — fermer les ports inutiles, retirer le code mort, limiter les entrées et les privilèges — est l'une des défenses les plus efficaces.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Trois catégories de surface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08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08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Réseau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Ports ouverts, protocoles, liens de communication, intrusions.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32608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94200" y="1832608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6228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Logiciel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28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applicatif, utilitaires, OS ; attention au code serveur web.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32608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75600" y="1832608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2042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Humaine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42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Ingénierie sociale, chaîne d'approvisionnement, matériel.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Frontières de confiance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08"/>
            <a:ext cx="10566400" cy="1414780"/>
          </a:xfrm>
          <a:prstGeom prst="roundRect">
            <a:avLst>
              <a:gd name="adj" fmla="val 53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08"/>
            <a:ext cx="10566400" cy="1414780"/>
          </a:xfrm>
          <a:custGeom>
            <a:avLst/>
            <a:gdLst/>
            <a:ahLst/>
            <a:cxnLst/>
            <a:rect l="l" t="t" r="r" b="b"/>
            <a:pathLst>
              <a:path w="10566400" h="1414780">
                <a:moveTo>
                  <a:pt x="76200" y="1414780"/>
                </a:moveTo>
                <a:lnTo>
                  <a:pt x="76200" y="141478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33858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43000" y="2086608"/>
            <a:ext cx="1025550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459992"/>
            <a:ext cx="1025550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Ligne où le niveau de confiance change : navigateur ↔ serveur, utilisateur ↔ noyau, service ↔ service, application ↔ base de données.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2800" y="3450592"/>
            <a:ext cx="3403600" cy="2594610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812800" y="3450592"/>
            <a:ext cx="3403600" cy="2594610"/>
          </a:xfrm>
          <a:custGeom>
            <a:avLst/>
            <a:gdLst/>
            <a:ahLst/>
            <a:cxnLst/>
            <a:rect l="l" t="t" r="r" b="b"/>
            <a:pathLst>
              <a:path w="3403600" h="25946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1041400" y="3719835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Pourquoi c'est clé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41400" y="4024635"/>
            <a:ext cx="3034792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Toute donnée qui franchit une frontière devient non fiable : elle doit être validée et contrôlée du côté qui reçoit.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94200" y="3450592"/>
            <a:ext cx="3403600" cy="2594610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4394200" y="3450592"/>
            <a:ext cx="3403600" cy="2594610"/>
          </a:xfrm>
          <a:custGeom>
            <a:avLst/>
            <a:gdLst/>
            <a:ahLst/>
            <a:cxnLst/>
            <a:rect l="l" t="t" r="r" b="b"/>
            <a:pathLst>
              <a:path w="3403600" h="25946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4622800" y="3719835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Comment les repérer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22800" y="4024635"/>
            <a:ext cx="3034792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Tracer les flux de données (diagramme) et marquer chaque passage d'un domaine de confiance à un autre.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75600" y="3450592"/>
            <a:ext cx="3403600" cy="2594610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7" name="Shape 15"/>
          <p:cNvSpPr/>
          <p:nvPr/>
        </p:nvSpPr>
        <p:spPr>
          <a:xfrm>
            <a:off x="7975600" y="3450592"/>
            <a:ext cx="3403600" cy="2594610"/>
          </a:xfrm>
          <a:custGeom>
            <a:avLst/>
            <a:gdLst/>
            <a:ahLst/>
            <a:cxnLst/>
            <a:rect l="l" t="t" r="r" b="b"/>
            <a:pathLst>
              <a:path w="3403600" h="25946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8" name="Text 16"/>
          <p:cNvSpPr/>
          <p:nvPr/>
        </p:nvSpPr>
        <p:spPr>
          <a:xfrm>
            <a:off x="8204200" y="3719835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 bon endroit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04200" y="4024635"/>
            <a:ext cx="3034792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contrôles de sécurité se placent SUR la frontière, pas avant : valider à la réception, jamais seulement à l'émission.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Modélisation des menaces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08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Démarche structurée pour anticiper les attaques dès la conception, au lieu de les découvrir en production. Objectif : trouver les menaces plausibles et décider comment les traiter.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533650"/>
            <a:ext cx="2536825" cy="3511550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Shape 4"/>
          <p:cNvSpPr/>
          <p:nvPr/>
        </p:nvSpPr>
        <p:spPr>
          <a:xfrm>
            <a:off x="812800" y="2533650"/>
            <a:ext cx="2536825" cy="3511550"/>
          </a:xfrm>
          <a:custGeom>
            <a:avLst/>
            <a:gdLst/>
            <a:ahLst/>
            <a:cxnLst/>
            <a:rect l="l" t="t" r="r" b="b"/>
            <a:pathLst>
              <a:path w="2536825" h="35115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2447925" y="0"/>
                </a:lnTo>
                <a:arcTo wR="88900" hR="88900" stAng="16200000" swAng="5400000"/>
                <a:lnTo>
                  <a:pt x="2536825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7" name="Text 5"/>
          <p:cNvSpPr/>
          <p:nvPr/>
        </p:nvSpPr>
        <p:spPr>
          <a:xfrm>
            <a:off x="1003300" y="2764792"/>
            <a:ext cx="2220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03300" y="3120392"/>
            <a:ext cx="22205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Décomposer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3300" y="3366777"/>
            <a:ext cx="2220500" cy="57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Schéma du système : composants, flux de données, frontières de confiance.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89325" y="2533650"/>
            <a:ext cx="2536825" cy="3511550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1" name="Shape 9"/>
          <p:cNvSpPr/>
          <p:nvPr/>
        </p:nvSpPr>
        <p:spPr>
          <a:xfrm>
            <a:off x="3489325" y="2533650"/>
            <a:ext cx="2536825" cy="3511550"/>
          </a:xfrm>
          <a:custGeom>
            <a:avLst/>
            <a:gdLst/>
            <a:ahLst/>
            <a:cxnLst/>
            <a:rect l="l" t="t" r="r" b="b"/>
            <a:pathLst>
              <a:path w="2536825" h="35115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2447925" y="0"/>
                </a:lnTo>
                <a:arcTo wR="88900" hR="88900" stAng="16200000" swAng="5400000"/>
                <a:lnTo>
                  <a:pt x="2536825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2" name="Text 10"/>
          <p:cNvSpPr/>
          <p:nvPr/>
        </p:nvSpPr>
        <p:spPr>
          <a:xfrm>
            <a:off x="3679825" y="2764792"/>
            <a:ext cx="2220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679825" y="3120392"/>
            <a:ext cx="22205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Identifier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79825" y="3366777"/>
            <a:ext cx="22205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chaque élément, chercher les menaces (méthode STRIDE).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5850" y="2533650"/>
            <a:ext cx="2536825" cy="3511550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6" name="Shape 14"/>
          <p:cNvSpPr/>
          <p:nvPr/>
        </p:nvSpPr>
        <p:spPr>
          <a:xfrm>
            <a:off x="6165850" y="2533650"/>
            <a:ext cx="2536825" cy="3511550"/>
          </a:xfrm>
          <a:custGeom>
            <a:avLst/>
            <a:gdLst/>
            <a:ahLst/>
            <a:cxnLst/>
            <a:rect l="l" t="t" r="r" b="b"/>
            <a:pathLst>
              <a:path w="2536825" h="35115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2447925" y="0"/>
                </a:lnTo>
                <a:arcTo wR="88900" hR="88900" stAng="16200000" swAng="5400000"/>
                <a:lnTo>
                  <a:pt x="2536825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7" name="Text 15"/>
          <p:cNvSpPr/>
          <p:nvPr/>
        </p:nvSpPr>
        <p:spPr>
          <a:xfrm>
            <a:off x="6356350" y="2764792"/>
            <a:ext cx="2220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356350" y="3120392"/>
            <a:ext cx="22205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Évaluer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6350" y="3366777"/>
            <a:ext cx="22205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Apprécier vraisemblance et impact ; prioriser les risques.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42375" y="2533650"/>
            <a:ext cx="2536825" cy="3511550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1" name="Shape 19"/>
          <p:cNvSpPr/>
          <p:nvPr/>
        </p:nvSpPr>
        <p:spPr>
          <a:xfrm>
            <a:off x="8842375" y="2533650"/>
            <a:ext cx="2536825" cy="3511550"/>
          </a:xfrm>
          <a:custGeom>
            <a:avLst/>
            <a:gdLst/>
            <a:ahLst/>
            <a:cxnLst/>
            <a:rect l="l" t="t" r="r" b="b"/>
            <a:pathLst>
              <a:path w="2536825" h="35115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2447925" y="0"/>
                </a:lnTo>
                <a:arcTo wR="88900" hR="88900" stAng="16200000" swAng="5400000"/>
                <a:lnTo>
                  <a:pt x="2536825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2" name="Text 20"/>
          <p:cNvSpPr/>
          <p:nvPr/>
        </p:nvSpPr>
        <p:spPr>
          <a:xfrm>
            <a:off x="9032875" y="2764792"/>
            <a:ext cx="2220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032875" y="3120392"/>
            <a:ext cx="22205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32875" y="3366777"/>
            <a:ext cx="22205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Choisir des contre-mesures ; accepter le risque résiduel.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STRIDE — six familles de menaces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08"/>
            <a:ext cx="3429000" cy="1832610"/>
          </a:xfrm>
          <a:prstGeom prst="roundRect">
            <a:avLst>
              <a:gd name="adj" fmla="val 41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08"/>
            <a:ext cx="3429000" cy="1832610"/>
          </a:xfrm>
          <a:custGeom>
            <a:avLst/>
            <a:gdLst/>
            <a:ahLst/>
            <a:cxnLst/>
            <a:rect l="l" t="t" r="r" b="b"/>
            <a:pathLst>
              <a:path w="3429000" h="183261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52800" y="0"/>
                </a:lnTo>
                <a:arcTo wR="76200" hR="76200" stAng="16200000" swAng="5400000"/>
                <a:lnTo>
                  <a:pt x="3429000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977900" y="2025650"/>
            <a:ext cx="181689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72289" y="2117092"/>
            <a:ext cx="1854518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Spoofing — Usurpation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7900" y="2366008"/>
            <a:ext cx="3191764" cy="198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faire passer pour un autre.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77900" y="2577467"/>
            <a:ext cx="319176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↦ Authenticité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1500" y="1832608"/>
            <a:ext cx="3429000" cy="1832610"/>
          </a:xfrm>
          <a:prstGeom prst="roundRect">
            <a:avLst>
              <a:gd name="adj" fmla="val 41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1" name="Shape 9"/>
          <p:cNvSpPr/>
          <p:nvPr/>
        </p:nvSpPr>
        <p:spPr>
          <a:xfrm>
            <a:off x="4381500" y="1832608"/>
            <a:ext cx="3429000" cy="1832610"/>
          </a:xfrm>
          <a:custGeom>
            <a:avLst/>
            <a:gdLst/>
            <a:ahLst/>
            <a:cxnLst/>
            <a:rect l="l" t="t" r="r" b="b"/>
            <a:pathLst>
              <a:path w="3429000" h="183261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52800" y="0"/>
                </a:lnTo>
                <a:arcTo wR="76200" hR="76200" stAng="16200000" swAng="5400000"/>
                <a:lnTo>
                  <a:pt x="3429000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2" name="Text 10"/>
          <p:cNvSpPr/>
          <p:nvPr/>
        </p:nvSpPr>
        <p:spPr>
          <a:xfrm>
            <a:off x="4546600" y="2025650"/>
            <a:ext cx="1778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37100" y="2117092"/>
            <a:ext cx="1875568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Tampering — Altération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46600" y="2366008"/>
            <a:ext cx="3191764" cy="198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Modifier données ou code.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46600" y="2577467"/>
            <a:ext cx="319176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2C6E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↦ Intégrité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50200" y="1832608"/>
            <a:ext cx="3429000" cy="1832610"/>
          </a:xfrm>
          <a:prstGeom prst="roundRect">
            <a:avLst>
              <a:gd name="adj" fmla="val 41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7" name="Shape 15"/>
          <p:cNvSpPr/>
          <p:nvPr/>
        </p:nvSpPr>
        <p:spPr>
          <a:xfrm>
            <a:off x="7950200" y="1832608"/>
            <a:ext cx="3429000" cy="1832610"/>
          </a:xfrm>
          <a:custGeom>
            <a:avLst/>
            <a:gdLst/>
            <a:ahLst/>
            <a:cxnLst/>
            <a:rect l="l" t="t" r="r" b="b"/>
            <a:pathLst>
              <a:path w="3429000" h="183261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52800" y="0"/>
                </a:lnTo>
                <a:arcTo wR="76200" hR="76200" stAng="16200000" swAng="5400000"/>
                <a:lnTo>
                  <a:pt x="3429000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8" name="Text 16"/>
          <p:cNvSpPr/>
          <p:nvPr/>
        </p:nvSpPr>
        <p:spPr>
          <a:xfrm>
            <a:off x="8115300" y="2025650"/>
            <a:ext cx="187325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15325" y="2117092"/>
            <a:ext cx="2189798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Repudiation — Répudiation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15300" y="2366008"/>
            <a:ext cx="3191764" cy="198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Nier une action commise.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15300" y="2577467"/>
            <a:ext cx="319176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↦ Auditabilité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2800" y="3804927"/>
            <a:ext cx="3429000" cy="1832610"/>
          </a:xfrm>
          <a:prstGeom prst="roundRect">
            <a:avLst>
              <a:gd name="adj" fmla="val 41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3" name="Shape 21"/>
          <p:cNvSpPr/>
          <p:nvPr/>
        </p:nvSpPr>
        <p:spPr>
          <a:xfrm>
            <a:off x="812800" y="3804927"/>
            <a:ext cx="3429000" cy="1832610"/>
          </a:xfrm>
          <a:custGeom>
            <a:avLst/>
            <a:gdLst/>
            <a:ahLst/>
            <a:cxnLst/>
            <a:rect l="l" t="t" r="r" b="b"/>
            <a:pathLst>
              <a:path w="3429000" h="183261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52800" y="0"/>
                </a:lnTo>
                <a:arcTo wR="76200" hR="76200" stAng="16200000" swAng="5400000"/>
                <a:lnTo>
                  <a:pt x="3429000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4" name="Text 22"/>
          <p:cNvSpPr/>
          <p:nvPr/>
        </p:nvSpPr>
        <p:spPr>
          <a:xfrm>
            <a:off x="977900" y="3997958"/>
            <a:ext cx="107871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98471" y="4089400"/>
            <a:ext cx="2342769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Info disclosure — Divulgation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7900" y="4338327"/>
            <a:ext cx="3191764" cy="198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Lire des données protégées.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77900" y="4549775"/>
            <a:ext cx="319176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↦ Confidentialité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1500" y="3804927"/>
            <a:ext cx="3429000" cy="1832610"/>
          </a:xfrm>
          <a:prstGeom prst="roundRect">
            <a:avLst>
              <a:gd name="adj" fmla="val 41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9" name="Shape 27"/>
          <p:cNvSpPr/>
          <p:nvPr/>
        </p:nvSpPr>
        <p:spPr>
          <a:xfrm>
            <a:off x="4381500" y="3804927"/>
            <a:ext cx="3429000" cy="1832610"/>
          </a:xfrm>
          <a:custGeom>
            <a:avLst/>
            <a:gdLst/>
            <a:ahLst/>
            <a:cxnLst/>
            <a:rect l="l" t="t" r="r" b="b"/>
            <a:pathLst>
              <a:path w="3429000" h="183261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52800" y="0"/>
                </a:lnTo>
                <a:arcTo wR="76200" hR="76200" stAng="16200000" swAng="5400000"/>
                <a:lnTo>
                  <a:pt x="3429000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30" name="Text 28"/>
          <p:cNvSpPr/>
          <p:nvPr/>
        </p:nvSpPr>
        <p:spPr>
          <a:xfrm>
            <a:off x="4546600" y="3997958"/>
            <a:ext cx="194627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753928" y="4089400"/>
            <a:ext cx="1338358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Denial of service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46600" y="4338327"/>
            <a:ext cx="3191764" cy="198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Rendre le service indisponible.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46600" y="4549775"/>
            <a:ext cx="319176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2C6E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↦ Disponibilité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950200" y="3804927"/>
            <a:ext cx="3429000" cy="1832610"/>
          </a:xfrm>
          <a:prstGeom prst="roundRect">
            <a:avLst>
              <a:gd name="adj" fmla="val 41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35" name="Shape 33"/>
          <p:cNvSpPr/>
          <p:nvPr/>
        </p:nvSpPr>
        <p:spPr>
          <a:xfrm>
            <a:off x="7950200" y="3804927"/>
            <a:ext cx="3429000" cy="1832610"/>
          </a:xfrm>
          <a:custGeom>
            <a:avLst/>
            <a:gdLst/>
            <a:ahLst/>
            <a:cxnLst/>
            <a:rect l="l" t="t" r="r" b="b"/>
            <a:pathLst>
              <a:path w="3429000" h="183261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52800" y="0"/>
                </a:lnTo>
                <a:arcTo wR="76200" hR="76200" stAng="16200000" swAng="5400000"/>
                <a:lnTo>
                  <a:pt x="3429000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36" name="Text 34"/>
          <p:cNvSpPr/>
          <p:nvPr/>
        </p:nvSpPr>
        <p:spPr>
          <a:xfrm>
            <a:off x="8115300" y="3997958"/>
            <a:ext cx="170418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298418" y="4089400"/>
            <a:ext cx="1697069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Elevation of privilege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15300" y="4338327"/>
            <a:ext cx="3191764" cy="198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Obtenir plus de droits.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115300" y="4549775"/>
            <a:ext cx="319176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↦ Autorisation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12800" y="5840735"/>
            <a:ext cx="10883392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chaque composant et chaque flux, se demander : est-il exposé à S, T, R, I, D ou E ? Chaque lettre vise une propriété CIAAA.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Acteurs et actifs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08"/>
            <a:ext cx="5194300" cy="2594610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08"/>
            <a:ext cx="5194300" cy="2594610"/>
          </a:xfrm>
          <a:custGeom>
            <a:avLst/>
            <a:gdLst/>
            <a:ahLst/>
            <a:cxnLst/>
            <a:rect l="l" t="t" r="r" b="b"/>
            <a:pathLst>
              <a:path w="5194300" h="25946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66800" y="2127250"/>
            <a:ext cx="48268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Acteurs (qui ?)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2447292"/>
            <a:ext cx="4826889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Légitimes ou malveillants, internes ou externes. On les caractérise par leurs motivations et leurs capacités (script kiddie, initié, groupe organisé).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4900" y="1832608"/>
            <a:ext cx="5194300" cy="2594610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08"/>
            <a:ext cx="5194300" cy="2594610"/>
          </a:xfrm>
          <a:custGeom>
            <a:avLst/>
            <a:gdLst/>
            <a:ahLst/>
            <a:cxnLst/>
            <a:rect l="l" t="t" r="r" b="b"/>
            <a:pathLst>
              <a:path w="5194300" h="25946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38900" y="2127250"/>
            <a:ext cx="48268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Actifs (quoi ?)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38900" y="2447292"/>
            <a:ext cx="4826889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qui a de la valeur : données personnelles, identifiants, disponibilité du service, réputation. On les inventorie et on les hiérarchise.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800" y="4630427"/>
            <a:ext cx="10566400" cy="1414780"/>
          </a:xfrm>
          <a:prstGeom prst="roundRect">
            <a:avLst>
              <a:gd name="adj" fmla="val 53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812800" y="4630427"/>
            <a:ext cx="10566400" cy="1414780"/>
          </a:xfrm>
          <a:custGeom>
            <a:avLst/>
            <a:gdLst/>
            <a:ahLst/>
            <a:cxnLst/>
            <a:rect l="l" t="t" r="r" b="b"/>
            <a:pathLst>
              <a:path w="10566400" h="1414780">
                <a:moveTo>
                  <a:pt x="76200" y="1414780"/>
                </a:moveTo>
                <a:lnTo>
                  <a:pt x="76200" y="141478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338580"/>
                </a:lnTo>
                <a:arcTo wR="25400" hR="76200" stAng="108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1143000" y="4884427"/>
            <a:ext cx="1025550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Relier actifs et CIAAA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5257800"/>
            <a:ext cx="1025550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chaque actif, préciser quelles propriétés comptent : un mot de passe exige surtout la Confidentialité ; un journal d'audit, l'Intégrité ; un site de paiement, la Disponibilité.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Menace, vulnérabilité, impact, risque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08"/>
            <a:ext cx="3240564" cy="2594610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08"/>
            <a:ext cx="3240564" cy="2594610"/>
          </a:xfrm>
          <a:custGeom>
            <a:avLst/>
            <a:gdLst/>
            <a:ahLst/>
            <a:cxnLst/>
            <a:rect l="l" t="t" r="r" b="b"/>
            <a:pathLst>
              <a:path w="3240564" h="25946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151664" y="0"/>
                </a:lnTo>
                <a:arcTo wR="88900" hR="88900" stAng="16200000" swAng="5400000"/>
                <a:lnTo>
                  <a:pt x="3240564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990600" y="2051050"/>
            <a:ext cx="2971513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Menace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0600" y="2299977"/>
            <a:ext cx="2971513" cy="20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acteur/événement qui veut nuire.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54964" y="2952117"/>
            <a:ext cx="2699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75718" y="1832608"/>
            <a:ext cx="3240564" cy="2594610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Shape 8"/>
          <p:cNvSpPr/>
          <p:nvPr/>
        </p:nvSpPr>
        <p:spPr>
          <a:xfrm>
            <a:off x="4475718" y="1832608"/>
            <a:ext cx="3240564" cy="2594610"/>
          </a:xfrm>
          <a:custGeom>
            <a:avLst/>
            <a:gdLst/>
            <a:ahLst/>
            <a:cxnLst/>
            <a:rect l="l" t="t" r="r" b="b"/>
            <a:pathLst>
              <a:path w="3240564" h="25946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151664" y="0"/>
                </a:lnTo>
                <a:arcTo wR="88900" hR="88900" stAng="16200000" swAng="5400000"/>
                <a:lnTo>
                  <a:pt x="3240564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1" name="Text 9"/>
          <p:cNvSpPr/>
          <p:nvPr/>
        </p:nvSpPr>
        <p:spPr>
          <a:xfrm>
            <a:off x="4653518" y="2051050"/>
            <a:ext cx="2971513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Vulnérabilité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53518" y="2299977"/>
            <a:ext cx="2971513" cy="20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faiblesse qu'il peut exploiter.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17882" y="2952117"/>
            <a:ext cx="2699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38637" y="1832608"/>
            <a:ext cx="3240564" cy="2594610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5" name="Shape 13"/>
          <p:cNvSpPr/>
          <p:nvPr/>
        </p:nvSpPr>
        <p:spPr>
          <a:xfrm>
            <a:off x="8138637" y="1832608"/>
            <a:ext cx="3240564" cy="2594610"/>
          </a:xfrm>
          <a:custGeom>
            <a:avLst/>
            <a:gdLst/>
            <a:ahLst/>
            <a:cxnLst/>
            <a:rect l="l" t="t" r="r" b="b"/>
            <a:pathLst>
              <a:path w="3240564" h="25946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151664" y="0"/>
                </a:lnTo>
                <a:arcTo wR="88900" hR="88900" stAng="16200000" swAng="5400000"/>
                <a:lnTo>
                  <a:pt x="3240564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6" name="Text 14"/>
          <p:cNvSpPr/>
          <p:nvPr/>
        </p:nvSpPr>
        <p:spPr>
          <a:xfrm>
            <a:off x="8316437" y="2051050"/>
            <a:ext cx="2971513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16437" y="2299977"/>
            <a:ext cx="2971513" cy="20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dommage subi par un actif.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800" y="4630427"/>
            <a:ext cx="10566400" cy="1414780"/>
          </a:xfrm>
          <a:prstGeom prst="roundRect">
            <a:avLst>
              <a:gd name="adj" fmla="val 53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9" name="Shape 17"/>
          <p:cNvSpPr/>
          <p:nvPr/>
        </p:nvSpPr>
        <p:spPr>
          <a:xfrm>
            <a:off x="812800" y="4630427"/>
            <a:ext cx="10566400" cy="1414780"/>
          </a:xfrm>
          <a:custGeom>
            <a:avLst/>
            <a:gdLst/>
            <a:ahLst/>
            <a:cxnLst/>
            <a:rect l="l" t="t" r="r" b="b"/>
            <a:pathLst>
              <a:path w="10566400" h="1414780">
                <a:moveTo>
                  <a:pt x="76200" y="1414780"/>
                </a:moveTo>
                <a:lnTo>
                  <a:pt x="76200" y="141478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338580"/>
                </a:lnTo>
                <a:arcTo wR="25400" hR="76200" stAng="108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0" name="Text 18"/>
          <p:cNvSpPr/>
          <p:nvPr/>
        </p:nvSpPr>
        <p:spPr>
          <a:xfrm>
            <a:off x="1143000" y="4884427"/>
            <a:ext cx="1025550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Risque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5257800"/>
            <a:ext cx="1025550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 = vraisemblance (qu'une menace exploite une vulnérabilité) × impact (sur l'actif). Sans vulnérabilité exploitable OU sans impact, le risque tend vers zéro.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Priorisation qualitative des risques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08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classe chaque risque en croisant sa vraisemblance (probabilité qu'il survienne) et son impact (gravité des conséquences). La priorité guide l'ordre de traitement.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 rot="10800000">
            <a:off x="762873" y="4147825"/>
            <a:ext cx="6731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Impact →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1146" y="2498092"/>
            <a:ext cx="3216751" cy="849948"/>
          </a:xfrm>
          <a:prstGeom prst="roundRect">
            <a:avLst>
              <a:gd name="adj" fmla="val 7471"/>
            </a:avLst>
          </a:prstGeom>
          <a:solidFill>
            <a:srgbClr val="E08900"/>
          </a:solidFill>
          <a:ln/>
        </p:spPr>
        <p:txBody>
          <a:bodyPr wrap="square" lIns="0" tIns="121101" rIns="0" bIns="121101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Moyen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56798" y="2498092"/>
            <a:ext cx="3216751" cy="849948"/>
          </a:xfrm>
          <a:prstGeom prst="roundRect">
            <a:avLst>
              <a:gd name="adj" fmla="val 7471"/>
            </a:avLst>
          </a:prstGeom>
          <a:solidFill>
            <a:srgbClr val="C0392B"/>
          </a:solidFill>
          <a:ln/>
        </p:spPr>
        <p:txBody>
          <a:bodyPr wrap="square" lIns="0" tIns="121101" rIns="0" bIns="121101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Élevé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62449" y="2498092"/>
            <a:ext cx="3216751" cy="849948"/>
          </a:xfrm>
          <a:prstGeom prst="roundRect">
            <a:avLst>
              <a:gd name="adj" fmla="val 7471"/>
            </a:avLst>
          </a:prstGeom>
          <a:solidFill>
            <a:srgbClr val="C0392B"/>
          </a:solidFill>
          <a:ln/>
        </p:spPr>
        <p:txBody>
          <a:bodyPr wrap="square" lIns="0" tIns="121101" rIns="0" bIns="121101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1146" y="3436938"/>
            <a:ext cx="3216751" cy="849948"/>
          </a:xfrm>
          <a:prstGeom prst="roundRect">
            <a:avLst>
              <a:gd name="adj" fmla="val 7471"/>
            </a:avLst>
          </a:prstGeom>
          <a:solidFill>
            <a:srgbClr val="2E7D32"/>
          </a:solidFill>
          <a:ln/>
        </p:spPr>
        <p:txBody>
          <a:bodyPr wrap="square" lIns="0" tIns="121101" rIns="0" bIns="121101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Faible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56798" y="3436938"/>
            <a:ext cx="3216751" cy="849948"/>
          </a:xfrm>
          <a:prstGeom prst="roundRect">
            <a:avLst>
              <a:gd name="adj" fmla="val 7471"/>
            </a:avLst>
          </a:prstGeom>
          <a:solidFill>
            <a:srgbClr val="E08900"/>
          </a:solidFill>
          <a:ln/>
        </p:spPr>
        <p:txBody>
          <a:bodyPr wrap="square" lIns="0" tIns="121101" rIns="0" bIns="121101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Moyen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62449" y="3436938"/>
            <a:ext cx="3216751" cy="849948"/>
          </a:xfrm>
          <a:prstGeom prst="roundRect">
            <a:avLst>
              <a:gd name="adj" fmla="val 7471"/>
            </a:avLst>
          </a:prstGeom>
          <a:solidFill>
            <a:srgbClr val="C0392B"/>
          </a:solidFill>
          <a:ln/>
        </p:spPr>
        <p:txBody>
          <a:bodyPr wrap="square" lIns="0" tIns="121101" rIns="0" bIns="121101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Élevé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1146" y="4375783"/>
            <a:ext cx="3216751" cy="849948"/>
          </a:xfrm>
          <a:prstGeom prst="roundRect">
            <a:avLst>
              <a:gd name="adj" fmla="val 7471"/>
            </a:avLst>
          </a:prstGeom>
          <a:solidFill>
            <a:srgbClr val="2E7D32"/>
          </a:solidFill>
          <a:ln/>
        </p:spPr>
        <p:txBody>
          <a:bodyPr wrap="square" lIns="0" tIns="121101" rIns="0" bIns="121101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Faible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56798" y="4375783"/>
            <a:ext cx="3216751" cy="849948"/>
          </a:xfrm>
          <a:prstGeom prst="roundRect">
            <a:avLst>
              <a:gd name="adj" fmla="val 7471"/>
            </a:avLst>
          </a:prstGeom>
          <a:solidFill>
            <a:srgbClr val="2E7D32"/>
          </a:solidFill>
          <a:ln/>
        </p:spPr>
        <p:txBody>
          <a:bodyPr wrap="square" lIns="0" tIns="121101" rIns="0" bIns="121101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Faible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2449" y="4375783"/>
            <a:ext cx="3216751" cy="849948"/>
          </a:xfrm>
          <a:prstGeom prst="roundRect">
            <a:avLst>
              <a:gd name="adj" fmla="val 7471"/>
            </a:avLst>
          </a:prstGeom>
          <a:solidFill>
            <a:srgbClr val="E08900"/>
          </a:solidFill>
          <a:ln/>
        </p:spPr>
        <p:txBody>
          <a:bodyPr wrap="square" lIns="0" tIns="121101" rIns="0" bIns="121101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Moyen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25746" y="5314640"/>
            <a:ext cx="1063784" cy="755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Vrais. faible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27630" y="5314640"/>
            <a:ext cx="1063784" cy="755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Vrais. moyenne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29514" y="5314640"/>
            <a:ext cx="1063784" cy="755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Vrais. élevée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Contre-mesures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08"/>
            <a:ext cx="3403600" cy="379603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08"/>
            <a:ext cx="3403600" cy="3796030"/>
          </a:xfrm>
          <a:custGeom>
            <a:avLst/>
            <a:gdLst/>
            <a:ahLst/>
            <a:cxnLst/>
            <a:rect l="l" t="t" r="r" b="b"/>
            <a:pathLst>
              <a:path w="3403600" h="379603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Choisir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3034792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contrôle adapté à la menace visée et proportionné au risque : inutile de blinder un actif sans valeur.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94200" y="1832608"/>
            <a:ext cx="3403600" cy="379603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94200" y="1832608"/>
            <a:ext cx="3403600" cy="3796030"/>
          </a:xfrm>
          <a:custGeom>
            <a:avLst/>
            <a:gdLst/>
            <a:ahLst/>
            <a:cxnLst/>
            <a:rect l="l" t="t" r="r" b="b"/>
            <a:pathLst>
              <a:path w="3403600" h="379603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6228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2800" y="2406650"/>
            <a:ext cx="3034792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Préventive (empêcher), détective (repérer), corrective (réparer). On les combine.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75600" y="1832608"/>
            <a:ext cx="3403600" cy="379603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75600" y="1832608"/>
            <a:ext cx="3403600" cy="3796030"/>
          </a:xfrm>
          <a:custGeom>
            <a:avLst/>
            <a:gdLst/>
            <a:ahLst/>
            <a:cxnLst/>
            <a:rect l="l" t="t" r="r" b="b"/>
            <a:pathLst>
              <a:path w="3403600" h="379603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2042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Évaluer les limites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4200" y="2406650"/>
            <a:ext cx="3034792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Coût, impact sur l'usage, contournements possibles, et le faux sentiment de sécurité qu'un contrôle mal posé peut donner.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2800" y="58318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contre-mesure se choisit par rapport à une menace précise et se vérifie (voir « Vérification des contrôles »).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Risque résiduel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08"/>
            <a:ext cx="10566400" cy="1414780"/>
          </a:xfrm>
          <a:prstGeom prst="roundRect">
            <a:avLst>
              <a:gd name="adj" fmla="val 53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08"/>
            <a:ext cx="10566400" cy="1414780"/>
          </a:xfrm>
          <a:custGeom>
            <a:avLst/>
            <a:gdLst/>
            <a:ahLst/>
            <a:cxnLst/>
            <a:rect l="l" t="t" r="r" b="b"/>
            <a:pathLst>
              <a:path w="10566400" h="1414780">
                <a:moveTo>
                  <a:pt x="76200" y="1414780"/>
                </a:moveTo>
                <a:lnTo>
                  <a:pt x="76200" y="141478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338580"/>
                </a:lnTo>
                <a:arcTo wR="25400" hR="76200" stAng="108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43000" y="2086608"/>
            <a:ext cx="1025550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459992"/>
            <a:ext cx="1025550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risque qui subsiste APR&amp;Egrave;S la mise en place des contre-mesures. Aucune protection ne ramène le risque à zéro.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2800" y="3450592"/>
            <a:ext cx="3403600" cy="2594610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812800" y="3450592"/>
            <a:ext cx="3403600" cy="2594610"/>
          </a:xfrm>
          <a:custGeom>
            <a:avLst/>
            <a:gdLst/>
            <a:ahLst/>
            <a:cxnLst/>
            <a:rect l="l" t="t" r="r" b="b"/>
            <a:pathLst>
              <a:path w="3403600" h="25946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1041400" y="3719835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Pourquoi il subsiste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41400" y="4024635"/>
            <a:ext cx="3034792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Contrôles imparfaits ou contournables, coût/faisabilité, nouvelles menaces non anticipées.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94200" y="3450592"/>
            <a:ext cx="3403600" cy="2594610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4394200" y="3450592"/>
            <a:ext cx="3403600" cy="2594610"/>
          </a:xfrm>
          <a:custGeom>
            <a:avLst/>
            <a:gdLst/>
            <a:ahLst/>
            <a:cxnLst/>
            <a:rect l="l" t="t" r="r" b="b"/>
            <a:pathLst>
              <a:path w="3403600" h="25946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4622800" y="3719835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décider explicitement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22800" y="4024635"/>
            <a:ext cx="3034792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 résiduel = risque initial − effet des contrôles. On le mesure et on l'assume.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75600" y="3450592"/>
            <a:ext cx="3403600" cy="2594610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7" name="Shape 15"/>
          <p:cNvSpPr/>
          <p:nvPr/>
        </p:nvSpPr>
        <p:spPr>
          <a:xfrm>
            <a:off x="7975600" y="3450592"/>
            <a:ext cx="3403600" cy="2594610"/>
          </a:xfrm>
          <a:custGeom>
            <a:avLst/>
            <a:gdLst/>
            <a:ahLst/>
            <a:cxnLst/>
            <a:rect l="l" t="t" r="r" b="b"/>
            <a:pathLst>
              <a:path w="3403600" h="25946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8" name="Text 16"/>
          <p:cNvSpPr/>
          <p:nvPr/>
        </p:nvSpPr>
        <p:spPr>
          <a:xfrm>
            <a:off x="8204200" y="3719835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 faire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04200" y="4024635"/>
            <a:ext cx="3034792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Accepter, réduire davantage, ou transférer (assurance, tiers). Le choix se documente.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Vérifier un contrôle de sécurité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08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contrôle n'est utile que s'il fonctionne réellement. On le vérifie de façon maîtrisée.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284735"/>
            <a:ext cx="3403600" cy="3343910"/>
          </a:xfrm>
          <a:prstGeom prst="roundRect">
            <a:avLst>
              <a:gd name="adj" fmla="val 26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Shape 4"/>
          <p:cNvSpPr/>
          <p:nvPr/>
        </p:nvSpPr>
        <p:spPr>
          <a:xfrm>
            <a:off x="812800" y="2284735"/>
            <a:ext cx="3403600" cy="3343910"/>
          </a:xfrm>
          <a:custGeom>
            <a:avLst/>
            <a:gdLst/>
            <a:ahLst/>
            <a:cxnLst/>
            <a:rect l="l" t="t" r="r" b="b"/>
            <a:pathLst>
              <a:path w="3403600" h="33439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7" name="Text 5"/>
          <p:cNvSpPr/>
          <p:nvPr/>
        </p:nvSpPr>
        <p:spPr>
          <a:xfrm>
            <a:off x="1041400" y="2553965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Autorisée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400" y="2858765"/>
            <a:ext cx="3034792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Périmètre et autorisation écrits : on ne teste que ce qu'on a le droit de tester.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4200" y="2284735"/>
            <a:ext cx="3403600" cy="3343910"/>
          </a:xfrm>
          <a:prstGeom prst="roundRect">
            <a:avLst>
              <a:gd name="adj" fmla="val 26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Shape 8"/>
          <p:cNvSpPr/>
          <p:nvPr/>
        </p:nvSpPr>
        <p:spPr>
          <a:xfrm>
            <a:off x="4394200" y="2284735"/>
            <a:ext cx="3403600" cy="3343910"/>
          </a:xfrm>
          <a:custGeom>
            <a:avLst/>
            <a:gdLst/>
            <a:ahLst/>
            <a:cxnLst/>
            <a:rect l="l" t="t" r="r" b="b"/>
            <a:pathLst>
              <a:path w="3403600" h="33439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1" name="Text 9"/>
          <p:cNvSpPr/>
          <p:nvPr/>
        </p:nvSpPr>
        <p:spPr>
          <a:xfrm>
            <a:off x="4622800" y="2553965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 destructive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22800" y="2858765"/>
            <a:ext cx="3034792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 altérer les données ni la disponibilité : tests réversibles, sur environnement dédié.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75600" y="2284735"/>
            <a:ext cx="3403600" cy="3343910"/>
          </a:xfrm>
          <a:prstGeom prst="roundRect">
            <a:avLst>
              <a:gd name="adj" fmla="val 26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Shape 12"/>
          <p:cNvSpPr/>
          <p:nvPr/>
        </p:nvSpPr>
        <p:spPr>
          <a:xfrm>
            <a:off x="7975600" y="2284735"/>
            <a:ext cx="3403600" cy="3343910"/>
          </a:xfrm>
          <a:custGeom>
            <a:avLst/>
            <a:gdLst/>
            <a:ahLst/>
            <a:cxnLst/>
            <a:rect l="l" t="t" r="r" b="b"/>
            <a:pathLst>
              <a:path w="3403600" h="33439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5" name="Text 13"/>
          <p:cNvSpPr/>
          <p:nvPr/>
        </p:nvSpPr>
        <p:spPr>
          <a:xfrm>
            <a:off x="8204200" y="2553965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Reproductible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04200" y="2858765"/>
            <a:ext cx="3034792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Démarche tracée et rejouable ; re-tester après chaque correctif.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2800" y="58318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Combiner revue (le contrôle existe-t-il ?) et test fonctionnel (fait-il ce qu'on attend face à une entrée hostile ?).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Principes de conception (1/2)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201" y="1832620"/>
            <a:ext cx="10843895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Moindre privilège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chaque composant n'a que les droits strictement nécessaires.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Défauts sûrs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par défaut, on refuse l'accès.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Médiation complète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chaque accès est vérifié.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Économie de mécanisme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plus c'est simple, plus c'est auditable.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Principes de conception (2/2)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201" y="1832620"/>
            <a:ext cx="10843895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Séparation des privilèges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exiger plusieurs conditions pour une action sensible.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ouvert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la sécurité ne repose pas sur le secret du mécanisme.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Acceptabilité psychologique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sûr </a:t>
            </a:r>
            <a:r>
              <a:rPr lang="en-US" sz="1450" i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utilisable, sinon contourné.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Isolation, modularité, défense en couches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Défense en profondeur — côté logiciel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5194300" cy="2594610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5194300" cy="2594610"/>
          </a:xfrm>
          <a:custGeom>
            <a:avLst/>
            <a:gdLst/>
            <a:ahLst/>
            <a:cxnLst/>
            <a:rect l="l" t="t" r="r" b="b"/>
            <a:pathLst>
              <a:path w="5194300" h="25946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66800" y="2127250"/>
            <a:ext cx="48268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Côté client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6800" y="2432050"/>
            <a:ext cx="48268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Confort et réactivité (ex. validation de formulaire). Contournable à volonté : JAMAIS une barrière de sécurité.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20"/>
            <a:ext cx="5194300" cy="2594610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20"/>
            <a:ext cx="5194300" cy="2594610"/>
          </a:xfrm>
          <a:custGeom>
            <a:avLst/>
            <a:gdLst/>
            <a:ahLst/>
            <a:cxnLst/>
            <a:rect l="l" t="t" r="r" b="b"/>
            <a:pathLst>
              <a:path w="5194300" h="25946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38900" y="2127250"/>
            <a:ext cx="48268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Côté serveur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38900" y="2432050"/>
            <a:ext cx="48268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Là où la sécurité est RÉELLEMENT imposée : l'attaquant ne contrôle pas le serveur. Toute entrée y est revalidée.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4630415"/>
            <a:ext cx="10566400" cy="1414780"/>
          </a:xfrm>
          <a:prstGeom prst="roundRect">
            <a:avLst>
              <a:gd name="adj" fmla="val 53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812800" y="4630415"/>
            <a:ext cx="10566400" cy="1414780"/>
          </a:xfrm>
          <a:custGeom>
            <a:avLst/>
            <a:gdLst/>
            <a:ahLst/>
            <a:cxnLst/>
            <a:rect l="l" t="t" r="r" b="b"/>
            <a:pathLst>
              <a:path w="10566400" h="1414780">
                <a:moveTo>
                  <a:pt x="76200" y="1414780"/>
                </a:moveTo>
                <a:lnTo>
                  <a:pt x="76200" y="141478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338580"/>
                </a:lnTo>
                <a:arcTo wR="25400" hR="76200" stAng="108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1143000" y="4884415"/>
            <a:ext cx="1025550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Plusieurs couches indépendantes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5257800"/>
            <a:ext cx="1025550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serveur + requêtes paramétrées + moindre privilège de la base + journalisation : si une couche cède, les suivantes limitent le dommage.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OWASP et le Top 10 (2025)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20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L'OWASP classe les risques web les plus critiques. Édition en vigueur : </a:t>
            </a: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(publiée en novembre 2025, elle remplace celle de 2021). Ordre officiel 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5023" y="2533650"/>
            <a:ext cx="5302948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8277" indent="-188277" algn="l">
              <a:lnSpc>
                <a:spcPts val="1688"/>
              </a:lnSpc>
              <a:buSzPct val="100000"/>
              <a:buFontTx/>
              <a:buAutoNum type="arabicPeriod"/>
            </a:pPr>
            <a:r>
              <a:rPr lang="en-US" sz="12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A01</a:t>
            </a: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Broken Access Control</a:t>
            </a:r>
            <a:endParaRPr lang="en-US" sz="1250" dirty="0"/>
          </a:p>
          <a:p>
            <a:pPr marL="188277" indent="-188277" algn="l">
              <a:lnSpc>
                <a:spcPts val="1688"/>
              </a:lnSpc>
              <a:buSzPct val="100000"/>
              <a:buFontTx/>
              <a:buAutoNum type="arabicPeriod"/>
            </a:pPr>
            <a:r>
              <a:rPr lang="en-US" sz="12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A02</a:t>
            </a: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Security Misconfiguration</a:t>
            </a:r>
            <a:endParaRPr lang="en-US" sz="1250" dirty="0"/>
          </a:p>
          <a:p>
            <a:pPr marL="188277" indent="-188277" algn="l">
              <a:lnSpc>
                <a:spcPts val="1688"/>
              </a:lnSpc>
              <a:buSzPct val="100000"/>
              <a:buFontTx/>
              <a:buAutoNum type="arabicPeriod"/>
            </a:pPr>
            <a:r>
              <a:rPr lang="en-US" sz="12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A03</a:t>
            </a: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Software Supply Chain Failures </a:t>
            </a:r>
            <a:r>
              <a:rPr lang="en-US" sz="125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(nouveau)</a:t>
            </a:r>
            <a:endParaRPr lang="en-US" sz="1250" dirty="0"/>
          </a:p>
          <a:p>
            <a:pPr marL="188277" indent="-188277" algn="l">
              <a:lnSpc>
                <a:spcPts val="1688"/>
              </a:lnSpc>
              <a:buSzPct val="100000"/>
              <a:buFontTx/>
              <a:buAutoNum type="arabicPeriod"/>
            </a:pPr>
            <a:r>
              <a:rPr lang="en-US" sz="12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A04</a:t>
            </a: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Cryptographic Failures</a:t>
            </a:r>
            <a:endParaRPr lang="en-US" sz="1250" dirty="0"/>
          </a:p>
          <a:p>
            <a:pPr marL="188277" indent="-188277" algn="l">
              <a:lnSpc>
                <a:spcPts val="1688"/>
              </a:lnSpc>
              <a:buSzPct val="100000"/>
              <a:buFontTx/>
              <a:buAutoNum type="arabicPeriod"/>
            </a:pPr>
            <a:r>
              <a:rPr lang="en-US" sz="12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A05</a:t>
            </a: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Injection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25223" y="2533650"/>
            <a:ext cx="5302948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8277" indent="-188277" algn="l">
              <a:lnSpc>
                <a:spcPts val="1688"/>
              </a:lnSpc>
              <a:buSzPct val="100000"/>
              <a:buFontTx/>
              <a:buAutoNum type="arabicPeriod"/>
            </a:pPr>
            <a:r>
              <a:rPr lang="en-US" sz="12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A06</a:t>
            </a: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Insecure Design</a:t>
            </a:r>
            <a:endParaRPr lang="en-US" sz="1250" dirty="0"/>
          </a:p>
          <a:p>
            <a:pPr marL="188277" indent="-188277" algn="l">
              <a:lnSpc>
                <a:spcPts val="1688"/>
              </a:lnSpc>
              <a:buSzPct val="100000"/>
              <a:buFontTx/>
              <a:buAutoNum type="arabicPeriod"/>
            </a:pPr>
            <a:r>
              <a:rPr lang="en-US" sz="12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A07</a:t>
            </a: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Authentication Failures</a:t>
            </a:r>
            <a:endParaRPr lang="en-US" sz="1250" dirty="0"/>
          </a:p>
          <a:p>
            <a:pPr marL="188277" indent="-188277" algn="l">
              <a:lnSpc>
                <a:spcPts val="1688"/>
              </a:lnSpc>
              <a:buSzPct val="100000"/>
              <a:buFontTx/>
              <a:buAutoNum type="arabicPeriod"/>
            </a:pPr>
            <a:r>
              <a:rPr lang="en-US" sz="12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A08</a:t>
            </a: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Software or Data Integrity Failures</a:t>
            </a:r>
            <a:endParaRPr lang="en-US" sz="1250" dirty="0"/>
          </a:p>
          <a:p>
            <a:pPr marL="188277" indent="-188277" algn="l">
              <a:lnSpc>
                <a:spcPts val="1688"/>
              </a:lnSpc>
              <a:buSzPct val="100000"/>
              <a:buFontTx/>
              <a:buAutoNum type="arabicPeriod"/>
            </a:pPr>
            <a:r>
              <a:rPr lang="en-US" sz="12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A09</a:t>
            </a: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Logging &amp; Alerting Failures</a:t>
            </a:r>
            <a:endParaRPr lang="en-US" sz="1250" dirty="0"/>
          </a:p>
          <a:p>
            <a:pPr marL="188277" indent="-188277" algn="l">
              <a:lnSpc>
                <a:spcPts val="1688"/>
              </a:lnSpc>
              <a:buSzPct val="100000"/>
              <a:buFontTx/>
              <a:buAutoNum type="arabicPeriod"/>
            </a:pPr>
            <a:r>
              <a:rPr lang="en-US" sz="12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A10</a:t>
            </a: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Mishandling of Exceptional Conditions </a:t>
            </a:r>
            <a:r>
              <a:rPr lang="en-US" sz="125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(nouveau)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12800" y="3808413"/>
            <a:ext cx="10566400" cy="810260"/>
          </a:xfrm>
          <a:prstGeom prst="roundRect">
            <a:avLst>
              <a:gd name="adj" fmla="val 9404"/>
            </a:avLst>
          </a:prstGeom>
          <a:solidFill>
            <a:srgbClr val="FFFFFF"/>
          </a:solidFill>
          <a:ln/>
        </p:spPr>
        <p:txBody>
          <a:bodyPr wrap="square" lIns="244382" tIns="142782" rIns="0" bIns="1173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noter : l'</a:t>
            </a:r>
            <a:r>
              <a:rPr lang="en-US" sz="13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injection</a:t>
            </a: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longtemps en tête, descend en A05 — mais reste très exploitable (notre Partie 2). Deux nouvelles catégories : chaîne d'approvisionnement logicielle (A03) et gestion des exceptions (A10).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12800" y="3808413"/>
            <a:ext cx="10566400" cy="810260"/>
          </a:xfrm>
          <a:custGeom>
            <a:avLst/>
            <a:gdLst/>
            <a:ahLst/>
            <a:cxnLst/>
            <a:rect l="l" t="t" r="r" b="b"/>
            <a:pathLst>
              <a:path w="10566400" h="810260">
                <a:moveTo>
                  <a:pt x="76200" y="810260"/>
                </a:moveTo>
                <a:lnTo>
                  <a:pt x="76200" y="8102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734060"/>
                </a:lnTo>
                <a:arcTo wR="25400" hR="76200" stAng="108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Deux grandes familles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Bugs mémoire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Buffer overflow, use-after-free, double-free… Cause : le langage laisse mal utiliser la mémoire. (Partie 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2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2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Injections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SQLi, commande, path, XSS… Cause : une chaîne non fiable construit un programme. (Partie 2)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INCIDENTS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1988 — Morris worm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2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débordement de tampon sur la pile dans </a:t>
            </a:r>
            <a:r>
              <a:rPr lang="en-US" sz="17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fingerd</a:t>
            </a: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(BSD) a paralysé environ 10 % de l'Internet de l'époque.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640335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premier ver à grande échelle : il a montré qu'un bug mémoire pouvait prendre le contrôle d'une machine à distance.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INCIDENTS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2014 — Heartbleed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2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vérification de bornes manquante dans l'extension heartbeat d'OpenSSL permettait de lire la mémoire du serveur.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640335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Mots de passe, cookies de session, même les clés privées ont fui. Environ 17 % des serveurs TLS touchés.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INCIDENTS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2017 — Equifax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2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faille Apache Struts non corrigée (injection OGNL via l'en-tête Content-Type) a exposé les données d'environ 147 millions de personnes.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640335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Le¸con : un correctif disponible et non appliqué reste une porte grande ouverte.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INCIDENTS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2011 — Sony PSN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2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injection SQL a permis de voler environ 77 millions de comptes ; une seconde attaque similaire en a ajouté 24,6 millions.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640335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réseau PlayStation a été coupé pendant des semaines : l'injection n'est pas qu'un problème théorique.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À retenir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39470" y="1832620"/>
            <a:ext cx="1085062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sécurité = tenir face à un adversaire actif, pas seulement bien fonctionner.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CIA(AA) définit ce qu'on protège ; risque = probabilité × impact.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L'asymétrie impose la défense en profondeur et la réduction de surface.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Deux familles dominent : bugs mémoire et injections.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Unité 1 — Introduction à la sécurité logicielle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8232"/>
            <a:ext cx="10883392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9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551882"/>
            <a:ext cx="10883392" cy="54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Sécurité mémoire &amp; stack overflow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2800" y="4249738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un dépassement de tampon prend le contrôle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MÉMOIRE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mémoire d'un processus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04355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adresses hautes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5975" y="1991990"/>
            <a:ext cx="3295650" cy="488950"/>
          </a:xfrm>
          <a:prstGeom prst="roundRect">
            <a:avLst>
              <a:gd name="adj" fmla="val 12338"/>
            </a:avLst>
          </a:prstGeom>
          <a:solidFill>
            <a:srgbClr val="F4D9D6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62036" tIns="111236" rIns="73949" bIns="85836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stack (croît vers le bas)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2600" y="2129805"/>
            <a:ext cx="31694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locales, adresses de retour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5975" y="2576190"/>
            <a:ext cx="3295650" cy="488950"/>
          </a:xfrm>
          <a:prstGeom prst="roundRect">
            <a:avLst>
              <a:gd name="adj" fmla="val 12338"/>
            </a:avLst>
          </a:prstGeom>
          <a:solidFill>
            <a:srgbClr val="FFFFFF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62036" tIns="111236" rIns="73949" bIns="85836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... non mappé 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2600" y="2714005"/>
            <a:ext cx="24414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espace libre entre pile et tas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5975" y="3160390"/>
            <a:ext cx="3295650" cy="488950"/>
          </a:xfrm>
          <a:prstGeom prst="roundRect">
            <a:avLst>
              <a:gd name="adj" fmla="val 12338"/>
            </a:avLst>
          </a:prstGeom>
          <a:solidFill>
            <a:srgbClr val="F0E2C4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62036" tIns="111236" rIns="73949" bIns="85836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heap (croît vers le haut)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2600" y="3298205"/>
            <a:ext cx="10954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malloc / new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5975" y="3744590"/>
            <a:ext cx="3295650" cy="488950"/>
          </a:xfrm>
          <a:prstGeom prst="roundRect">
            <a:avLst>
              <a:gd name="adj" fmla="val 12338"/>
            </a:avLst>
          </a:prstGeom>
          <a:solidFill>
            <a:srgbClr val="E7EDF2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62036" tIns="111236" rIns="73949" bIns="85836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.data / .bss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2600" y="3882405"/>
            <a:ext cx="26197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globales et statiques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5975" y="4328790"/>
            <a:ext cx="3295650" cy="488950"/>
          </a:xfrm>
          <a:prstGeom prst="roundRect">
            <a:avLst>
              <a:gd name="adj" fmla="val 12338"/>
            </a:avLst>
          </a:prstGeom>
          <a:solidFill>
            <a:srgbClr val="DFE3E9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62036" tIns="111236" rIns="73949" bIns="85836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2600" y="4466605"/>
            <a:ext cx="32368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 compilées (lecture seule)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4909815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adresses basses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MÉMOIRE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Pile et tas, sens opposés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Pile (stack)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locales, appels de fonctions. Politique LIFO. Croît vers les adresses basses.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2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2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Tas (heap)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Mémoire dynamique (malloc / new). Gérée explicitement. Croît vers les adresses hautes.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REPRÉSENTATION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Octets, mots, hexadécimal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55"/>
            <a:ext cx="3420507" cy="2966085"/>
          </a:xfrm>
          <a:prstGeom prst="roundRect">
            <a:avLst>
              <a:gd name="adj" fmla="val 29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755155"/>
            <a:ext cx="3420507" cy="2966085"/>
          </a:xfrm>
          <a:custGeom>
            <a:avLst/>
            <a:gdLst/>
            <a:ahLst/>
            <a:cxnLst/>
            <a:rect l="l" t="t" r="r" b="b"/>
            <a:pathLst>
              <a:path w="3420507" h="296608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03300" y="1986285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Bits &amp; octets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3300" y="2255515"/>
            <a:ext cx="3130692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octet = 8 bits. Un mot de 32 bits = 4 octets. Une adresse 32 bits tient sur 4 octets (0x00000000 à 0xffffffff).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5707" y="1755155"/>
            <a:ext cx="3420586" cy="2966085"/>
          </a:xfrm>
          <a:prstGeom prst="roundRect">
            <a:avLst>
              <a:gd name="adj" fmla="val 29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85707" y="1755155"/>
            <a:ext cx="3420586" cy="2966085"/>
          </a:xfrm>
          <a:custGeom>
            <a:avLst/>
            <a:gdLst/>
            <a:ahLst/>
            <a:cxnLst/>
            <a:rect l="l" t="t" r="r" b="b"/>
            <a:pathLst>
              <a:path w="3420586" h="296608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86" y="0"/>
                </a:lnTo>
                <a:arcTo wR="88900" hR="88900" stAng="16200000" swAng="5400000"/>
                <a:lnTo>
                  <a:pt x="3420586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576207" y="1986285"/>
            <a:ext cx="313077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Hexadécimal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6207" y="2255515"/>
            <a:ext cx="3130774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16 (0-9, a-f). 1 octet = 2 chiffres hex (0x00 à 0xff) : pratique car aligné sur les octets.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8693" y="1755155"/>
            <a:ext cx="3420507" cy="2966085"/>
          </a:xfrm>
          <a:prstGeom prst="roundRect">
            <a:avLst>
              <a:gd name="adj" fmla="val 29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58693" y="1755155"/>
            <a:ext cx="3420507" cy="2966085"/>
          </a:xfrm>
          <a:custGeom>
            <a:avLst/>
            <a:gdLst/>
            <a:ahLst/>
            <a:cxnLst/>
            <a:rect l="l" t="t" r="r" b="b"/>
            <a:pathLst>
              <a:path w="3420507" h="296608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149193" y="1986285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Caractères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49193" y="2255515"/>
            <a:ext cx="3130692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Codés en octets (ASCII : 'A' = 0x41). Une chaîne C = des octets suivis d'un terminateur 0x00.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800" y="4899025"/>
            <a:ext cx="10566400" cy="1146175"/>
          </a:xfrm>
          <a:prstGeom prst="roundRect">
            <a:avLst>
              <a:gd name="adj" fmla="val 7756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7" name="Text 15"/>
          <p:cNvSpPr/>
          <p:nvPr/>
        </p:nvSpPr>
        <p:spPr>
          <a:xfrm>
            <a:off x="1092200" y="5114925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'A' = 0x41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2200" y="5353050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"AB" = 41 42 00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2200" y="5591175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(le 00 termine la chaine)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REPRÉSENTATION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Little-endian, offset, padding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55"/>
            <a:ext cx="3420507" cy="3204210"/>
          </a:xfrm>
          <a:prstGeom prst="roundRect">
            <a:avLst>
              <a:gd name="adj" fmla="val 27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755155"/>
            <a:ext cx="3420507" cy="3204210"/>
          </a:xfrm>
          <a:custGeom>
            <a:avLst/>
            <a:gdLst/>
            <a:ahLst/>
            <a:cxnLst/>
            <a:rect l="l" t="t" r="r" b="b"/>
            <a:pathLst>
              <a:path w="3420507" h="32042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03300" y="1986285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Little-endian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3300" y="2255515"/>
            <a:ext cx="3130692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mot de 4 octets est stocké octet de poids faible d'abord. D'où l'écriture des adresses « à l'envers » dans un exploit.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5707" y="1755155"/>
            <a:ext cx="3420586" cy="3204210"/>
          </a:xfrm>
          <a:prstGeom prst="roundRect">
            <a:avLst>
              <a:gd name="adj" fmla="val 27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85707" y="1755155"/>
            <a:ext cx="3420586" cy="3204210"/>
          </a:xfrm>
          <a:custGeom>
            <a:avLst/>
            <a:gdLst/>
            <a:ahLst/>
            <a:cxnLst/>
            <a:rect l="l" t="t" r="r" b="b"/>
            <a:pathLst>
              <a:path w="3420586" h="32042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86" y="0"/>
                </a:lnTo>
                <a:arcTo wR="88900" hR="88900" stAng="16200000" swAng="5400000"/>
                <a:lnTo>
                  <a:pt x="3420586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576207" y="1986285"/>
            <a:ext cx="313077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Offset &amp; padding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6207" y="2255515"/>
            <a:ext cx="3130774" cy="1011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Offset = distance en octets entre deux positions (début du tampon → adresse de retour). Padding = octets d'alignement ajoutés par le compilateur ; ils changent l'offset réel.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8693" y="1755155"/>
            <a:ext cx="3420507" cy="3204210"/>
          </a:xfrm>
          <a:prstGeom prst="roundRect">
            <a:avLst>
              <a:gd name="adj" fmla="val 27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58693" y="1755155"/>
            <a:ext cx="3420507" cy="3204210"/>
          </a:xfrm>
          <a:custGeom>
            <a:avLst/>
            <a:gdLst/>
            <a:ahLst/>
            <a:cxnLst/>
            <a:rect l="l" t="t" r="r" b="b"/>
            <a:pathLst>
              <a:path w="3420507" h="32042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149193" y="1986285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notions à ne pas confondre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49193" y="2255515"/>
            <a:ext cx="3130692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L'adresse DÉSIGNE une case ; la valeur est ce qu'elle CONTIENT ; un registre contient soit une valeur, soit une adresse.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800" y="5137150"/>
            <a:ext cx="10566400" cy="908050"/>
          </a:xfrm>
          <a:prstGeom prst="roundRect">
            <a:avLst>
              <a:gd name="adj" fmla="val 9790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7" name="Text 15"/>
          <p:cNvSpPr/>
          <p:nvPr/>
        </p:nvSpPr>
        <p:spPr>
          <a:xfrm>
            <a:off x="1092200" y="5353050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adresse 0x08049186 -&gt; octets : 86 91 04 08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2200" y="5591175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meme valeur, ecrite a l'envers en memoire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RAPPEL C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Pointeurs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55"/>
            <a:ext cx="10566400" cy="1305243"/>
          </a:xfrm>
          <a:prstGeom prst="roundRect">
            <a:avLst>
              <a:gd name="adj" fmla="val 6811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5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 x = 42;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 *p = &amp;x;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p contient l adresse de x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4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*p = 7;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ecrit 7 a cette adresse -&gt; x vaut 7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2800" y="3238178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pointeur est une adresse. Déréférencer (*p) lit ou écrit la mémoire visée — sans aucun garde-fou.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RAPPEL C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Tableaux et chaînes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55"/>
            <a:ext cx="10566400" cy="1305243"/>
          </a:xfrm>
          <a:prstGeom prst="roundRect">
            <a:avLst>
              <a:gd name="adj" fmla="val 6811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5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char buf[16];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16 octets sur la pile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strcpy(buf, src);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copie src jusqu au premier 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4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une chaine C se termine par un octet nul 0x00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2800" y="3238178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tableau C n'a pas de taille associée à l'exécution. Rien ne vérifie que src tient dans buf.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5680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RAPPEL C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73350"/>
            <a:ext cx="10883392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C ne vérifie jamais les bornes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463305"/>
            <a:ext cx="10883392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Écrire buf[20] dans un tableau de 16 octets compile sans erreur. Le standard C qualifie cet accès hors limites de </a:t>
            </a:r>
            <a:r>
              <a:rPr lang="en-US" sz="1600" b="1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comportement indéfini</a:t>
            </a:r>
            <a:r>
              <a:rPr lang="en-US" sz="16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le résultat n'est pas garanti — selon le compilateur et le contexte, il peut écraser la mémoire voisine, planter, être optimisé autrement, ou ouvrir une faille exploitable. C'est la racine de la plupart des bugs mémoire.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RAPPEL C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Fonctions C dangereuses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42780"/>
          <a:ext cx="10556240" cy="2235200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Fonction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Problème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Alternative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gets()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lit une ligne sans limite de taille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C6E8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fgets()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strcpy()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copie sans vérifier la taille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C6E8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strncpy() / snprintf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strcat()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concatène sans vérifier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C6E8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strncat()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sprintf()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formate sans limite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C6E8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snprintf()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281165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Ces alternatives bornées ne sont pas automatiquement sûres : </a:t>
            </a:r>
            <a:r>
              <a:rPr lang="en-US" sz="1200" b="1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strncpy</a:t>
            </a: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peut laisser une chaîne non terminée, et le 3e argument de </a:t>
            </a:r>
            <a:r>
              <a:rPr lang="en-US" sz="1200" b="1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strncat</a:t>
            </a: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 le nombre d'octets à ajouter, pas la taille du tampon (voir Prévention).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ARCHITECTURE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Registres x86 (32 bits)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55"/>
            <a:ext cx="3420507" cy="388112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755155"/>
            <a:ext cx="3420507" cy="3881120"/>
          </a:xfrm>
          <a:custGeom>
            <a:avLst/>
            <a:gdLst/>
            <a:ahLst/>
            <a:cxnLst/>
            <a:rect l="l" t="t" r="r" b="b"/>
            <a:pathLst>
              <a:path w="3420507" h="388112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03300" y="1986285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EIP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3300" y="2255515"/>
            <a:ext cx="3130692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Pointe la prochaine instruction à exécuter. C'est LUI que l'attaquant veut contrôler : changer EIP = détourner le programme.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5707" y="1755155"/>
            <a:ext cx="3420586" cy="388112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85707" y="1755155"/>
            <a:ext cx="3420586" cy="3881120"/>
          </a:xfrm>
          <a:custGeom>
            <a:avLst/>
            <a:gdLst/>
            <a:ahLst/>
            <a:cxnLst/>
            <a:rect l="l" t="t" r="r" b="b"/>
            <a:pathLst>
              <a:path w="3420586" h="388112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86" y="0"/>
                </a:lnTo>
                <a:arcTo wR="88900" hR="88900" stAng="16200000" swAng="5400000"/>
                <a:lnTo>
                  <a:pt x="3420586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576207" y="1986285"/>
            <a:ext cx="313077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6207" y="2255515"/>
            <a:ext cx="3130774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Sommet de la pile (l'adresse la plus basse utilisée). Bouge à chaque push/pop/call/ret.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8693" y="1755155"/>
            <a:ext cx="3420507" cy="388112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58693" y="1755155"/>
            <a:ext cx="3420507" cy="3881120"/>
          </a:xfrm>
          <a:custGeom>
            <a:avLst/>
            <a:gdLst/>
            <a:ahLst/>
            <a:cxnLst/>
            <a:rect l="l" t="t" r="r" b="b"/>
            <a:pathLst>
              <a:path w="3420507" h="388112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149193" y="1986285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EBP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49193" y="2255515"/>
            <a:ext cx="3130692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la trame courante : repère fixe pour accéder aux variables locales et aux paramètres.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2800" y="581407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32 bits, chaque registre tient sur 4 octets. Contrôler EIP, c'est contrôler l'exécution.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ARCHITECTURE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Instructions et trame d'exécution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55"/>
            <a:ext cx="3420507" cy="2013585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755155"/>
            <a:ext cx="3420507" cy="2013585"/>
          </a:xfrm>
          <a:custGeom>
            <a:avLst/>
            <a:gdLst/>
            <a:ahLst/>
            <a:cxnLst/>
            <a:rect l="l" t="t" r="r" b="b"/>
            <a:pathLst>
              <a:path w="3420507" h="201358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03300" y="1986285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push / pop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3300" y="2255515"/>
            <a:ext cx="3130692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empile une valeur (ESP diminue) ; pop la retire (ESP augmente).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5707" y="1755155"/>
            <a:ext cx="3420586" cy="2013585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85707" y="1755155"/>
            <a:ext cx="3420586" cy="2013585"/>
          </a:xfrm>
          <a:custGeom>
            <a:avLst/>
            <a:gdLst/>
            <a:ahLst/>
            <a:cxnLst/>
            <a:rect l="l" t="t" r="r" b="b"/>
            <a:pathLst>
              <a:path w="3420586" h="201358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86" y="0"/>
                </a:lnTo>
                <a:arcTo wR="88900" hR="88900" stAng="16200000" swAng="5400000"/>
                <a:lnTo>
                  <a:pt x="3420586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576207" y="1986285"/>
            <a:ext cx="313077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6207" y="2255515"/>
            <a:ext cx="3130774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Empile l'adresse de retour (l'instruction suivante) puis saute dans la fonction.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8693" y="1755155"/>
            <a:ext cx="3420507" cy="2013585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58693" y="1755155"/>
            <a:ext cx="3420507" cy="2013585"/>
          </a:xfrm>
          <a:custGeom>
            <a:avLst/>
            <a:gdLst/>
            <a:ahLst/>
            <a:cxnLst/>
            <a:rect l="l" t="t" r="r" b="b"/>
            <a:pathLst>
              <a:path w="3420507" h="201358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149193" y="1986285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49193" y="2255515"/>
            <a:ext cx="3130692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Dépile cette adresse dans EIP : on revient à l'appelant.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800" y="3946525"/>
            <a:ext cx="10566400" cy="2098675"/>
          </a:xfrm>
          <a:prstGeom prst="roundRect">
            <a:avLst>
              <a:gd name="adj" fmla="val 4236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7" name="Text 15"/>
          <p:cNvSpPr/>
          <p:nvPr/>
        </p:nvSpPr>
        <p:spPr>
          <a:xfrm>
            <a:off x="1092200" y="4162425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 creation de la trame (prologue)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2200" y="4400550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push ebp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2200" y="4638675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mov ebp, esp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92200" y="4876800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sub esp, N ; place pour les variables locales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92200" y="5114925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 destruction (epilogue)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92200" y="5353050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leave ; mov esp,ebp ; pop ebp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92200" y="5591175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BUFFER OVERFLOW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Définition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10566400" cy="1247140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10566400" cy="1247140"/>
          </a:xfrm>
          <a:custGeom>
            <a:avLst/>
            <a:gdLst/>
            <a:ahLst/>
            <a:cxnLst/>
            <a:rect l="l" t="t" r="r" b="b"/>
            <a:pathLst>
              <a:path w="10566400" h="1247140">
                <a:moveTo>
                  <a:pt x="76200" y="1247140"/>
                </a:moveTo>
                <a:lnTo>
                  <a:pt x="76200" y="124714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170940"/>
                </a:lnTo>
                <a:arcTo wR="25400" hR="76200" stAng="108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2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Buffer overflow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65"/>
            <a:ext cx="10210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Écrire plus de données dans un tampon de taille fixe que sa capacité, écrasant la mémoire adjacente.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28295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octets juste après le tampon sont intéressants : sur la pile, ce sont le pointeur de frame sauvegardé et l'adresse de retour.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BUFFER OVERFLOW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Exemple minimal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55"/>
            <a:ext cx="10566400" cy="2102485"/>
          </a:xfrm>
          <a:prstGeom prst="roundRect">
            <a:avLst>
              <a:gd name="adj" fmla="val 4228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5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greet(char *name) {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char buf[16];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4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strcpy(buf, name);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pas de controle de taille !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37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printf("Hello, %s", buf);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2200" y="307213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2200" y="333789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greet(argv[1]) : l attaquant controle name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2800" y="4035425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Passez un nom de plus de 16 octets : strcpy écrit joyeusement au-delà de buf.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BUFFER OVERFLOW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58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frame de greet en mémoire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78955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adresses hautes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5975" y="1953890"/>
            <a:ext cx="3549650" cy="420370"/>
          </a:xfrm>
          <a:prstGeom prst="roundRect">
            <a:avLst>
              <a:gd name="adj" fmla="val 11329"/>
            </a:avLst>
          </a:prstGeom>
          <a:solidFill>
            <a:srgbClr val="E7EDF2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40356" tIns="89556" rIns="43125" bIns="6415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name (argument appelant)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5975" y="2456830"/>
            <a:ext cx="3549650" cy="420370"/>
          </a:xfrm>
          <a:prstGeom prst="roundRect">
            <a:avLst>
              <a:gd name="adj" fmla="val 11329"/>
            </a:avLst>
          </a:prstGeom>
          <a:solidFill>
            <a:srgbClr val="E0999A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40356" tIns="89556" rIns="43125" bIns="6415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111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adresse de retour -&gt; main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21200" y="2569220"/>
            <a:ext cx="239029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 l'écraser = détourner le flux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5975" y="2959745"/>
            <a:ext cx="3549650" cy="420370"/>
          </a:xfrm>
          <a:prstGeom prst="roundRect">
            <a:avLst>
              <a:gd name="adj" fmla="val 11329"/>
            </a:avLst>
          </a:prstGeom>
          <a:solidFill>
            <a:srgbClr val="F0CFCD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40356" tIns="89556" rIns="43125" bIns="6415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pointeur de frame sauvegardé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5975" y="3462660"/>
            <a:ext cx="3549650" cy="420370"/>
          </a:xfrm>
          <a:prstGeom prst="roundRect">
            <a:avLst>
              <a:gd name="adj" fmla="val 11329"/>
            </a:avLst>
          </a:prstGeom>
          <a:solidFill>
            <a:srgbClr val="F0E2C4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40356" tIns="89556" rIns="43125" bIns="6415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buf[12..15]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5975" y="3965575"/>
            <a:ext cx="3549650" cy="420370"/>
          </a:xfrm>
          <a:prstGeom prst="roundRect">
            <a:avLst>
              <a:gd name="adj" fmla="val 11329"/>
            </a:avLst>
          </a:prstGeom>
          <a:solidFill>
            <a:srgbClr val="F0E2C4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40356" tIns="89556" rIns="43125" bIns="6415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buf[8..11]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5975" y="4468490"/>
            <a:ext cx="3549650" cy="420370"/>
          </a:xfrm>
          <a:prstGeom prst="roundRect">
            <a:avLst>
              <a:gd name="adj" fmla="val 11329"/>
            </a:avLst>
          </a:prstGeom>
          <a:solidFill>
            <a:srgbClr val="F0E2C4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40356" tIns="89556" rIns="43125" bIns="6415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buf[4..7]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5975" y="4971430"/>
            <a:ext cx="3549650" cy="420370"/>
          </a:xfrm>
          <a:prstGeom prst="roundRect">
            <a:avLst>
              <a:gd name="adj" fmla="val 11329"/>
            </a:avLst>
          </a:prstGeom>
          <a:solidFill>
            <a:srgbClr val="F0E2C4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40356" tIns="89556" rIns="43125" bIns="6415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buf[0..3]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1200" y="5083820"/>
            <a:ext cx="340423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 strcpy commence ici et écrit vers le haut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2800" y="547117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adresses basses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2800" y="5806455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Schéma illustratif : l'ordre exact des éléments, le padding et la présence d'un canari dépendent du compilateur, des options et des protections activées.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BUFFER OVERFLOW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Écraser l'adresse de retour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2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strcpy écrit vers les adresses hautes. En dépassant buf, on atteint 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6201" y="2338065"/>
            <a:ext cx="10843895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d'abord le pointeur de frame sauvegardé,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puis </a:t>
            </a: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l'adresse de retour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là où le CPU ira quand greet se termine.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Contrôler cette adresse, c'est contrôler l'exécution.</a:t>
            </a:r>
            <a:endParaRPr lang="en-US" sz="14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2350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BUFFER OVERFLOW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940050"/>
            <a:ext cx="10883392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 crash au contrôle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730005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débordement naïf écrase l'adresse de retour avec du « n'importe quoi » et le programme plante. Un attaquant fait mieux : il met une adresse </a:t>
            </a:r>
            <a:r>
              <a:rPr lang="en-US" sz="1700" i="1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choisie</a:t>
            </a:r>
            <a:r>
              <a:rPr lang="en-US" sz="17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ANALYSE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Observer avec GDB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55"/>
            <a:ext cx="3437414" cy="1877060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755155"/>
            <a:ext cx="3437414" cy="1877060"/>
          </a:xfrm>
          <a:custGeom>
            <a:avLst/>
            <a:gdLst/>
            <a:ahLst/>
            <a:cxnLst/>
            <a:rect l="l" t="t" r="r" b="b"/>
            <a:pathLst>
              <a:path w="3437414" h="187706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61214" y="0"/>
                </a:lnTo>
                <a:arcTo wR="76200" hR="76200" stAng="16200000" swAng="5400000"/>
                <a:lnTo>
                  <a:pt x="3437414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977900" y="1935485"/>
            <a:ext cx="320043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Point d'arrêt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77900" y="2148855"/>
            <a:ext cx="3200430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Suspendre l'exécution à une ligne ou une adresse pour inspecter l'état.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7214" y="1755155"/>
            <a:ext cx="3437493" cy="1877060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77214" y="1755155"/>
            <a:ext cx="3437493" cy="1877060"/>
          </a:xfrm>
          <a:custGeom>
            <a:avLst/>
            <a:gdLst/>
            <a:ahLst/>
            <a:cxnLst/>
            <a:rect l="l" t="t" r="r" b="b"/>
            <a:pathLst>
              <a:path w="3437493" h="187706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61293" y="0"/>
                </a:lnTo>
                <a:arcTo wR="76200" hR="76200" stAng="16200000" swAng="5400000"/>
                <a:lnTo>
                  <a:pt x="3437493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542314" y="1935485"/>
            <a:ext cx="3200512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Registres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42314" y="2148855"/>
            <a:ext cx="3200512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Lire EIP/ESP/EBP : où en est le programme, où pointe la pile.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41707" y="1755155"/>
            <a:ext cx="3437493" cy="1877060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41707" y="1755155"/>
            <a:ext cx="3437493" cy="1877060"/>
          </a:xfrm>
          <a:custGeom>
            <a:avLst/>
            <a:gdLst/>
            <a:ahLst/>
            <a:cxnLst/>
            <a:rect l="l" t="t" r="r" b="b"/>
            <a:pathLst>
              <a:path w="3437493" h="187706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61293" y="0"/>
                </a:lnTo>
                <a:arcTo wR="76200" hR="76200" stAng="16200000" swAng="5400000"/>
                <a:lnTo>
                  <a:pt x="3437493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106807" y="1935485"/>
            <a:ext cx="3200512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Mémoire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06807" y="2148855"/>
            <a:ext cx="3200512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Inspecter le contenu d'adresses (pile, tampon) en hexadécimal.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2800" y="3759200"/>
            <a:ext cx="3437414" cy="1877060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7" name="Shape 15"/>
          <p:cNvSpPr/>
          <p:nvPr/>
        </p:nvSpPr>
        <p:spPr>
          <a:xfrm>
            <a:off x="812800" y="3759200"/>
            <a:ext cx="3437414" cy="1877060"/>
          </a:xfrm>
          <a:custGeom>
            <a:avLst/>
            <a:gdLst/>
            <a:ahLst/>
            <a:cxnLst/>
            <a:rect l="l" t="t" r="r" b="b"/>
            <a:pathLst>
              <a:path w="3437414" h="187706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61214" y="0"/>
                </a:lnTo>
                <a:arcTo wR="76200" hR="76200" stAng="16200000" swAng="5400000"/>
                <a:lnTo>
                  <a:pt x="3437414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8" name="Text 16"/>
          <p:cNvSpPr/>
          <p:nvPr/>
        </p:nvSpPr>
        <p:spPr>
          <a:xfrm>
            <a:off x="977900" y="3939555"/>
            <a:ext cx="320043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77900" y="4152900"/>
            <a:ext cx="3200430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Lire la pile autour d'EBP : variables, EBP sauvé, adresse de retour.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77214" y="3759200"/>
            <a:ext cx="3437493" cy="1877060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1" name="Shape 19"/>
          <p:cNvSpPr/>
          <p:nvPr/>
        </p:nvSpPr>
        <p:spPr>
          <a:xfrm>
            <a:off x="4377214" y="3759200"/>
            <a:ext cx="3437493" cy="1877060"/>
          </a:xfrm>
          <a:custGeom>
            <a:avLst/>
            <a:gdLst/>
            <a:ahLst/>
            <a:cxnLst/>
            <a:rect l="l" t="t" r="r" b="b"/>
            <a:pathLst>
              <a:path w="3437493" h="187706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61293" y="0"/>
                </a:lnTo>
                <a:arcTo wR="76200" hR="76200" stAng="16200000" swAng="5400000"/>
                <a:lnTo>
                  <a:pt x="3437493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2" name="Text 20"/>
          <p:cNvSpPr/>
          <p:nvPr/>
        </p:nvSpPr>
        <p:spPr>
          <a:xfrm>
            <a:off x="4542314" y="3939555"/>
            <a:ext cx="3200512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Désassemblage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42314" y="4152900"/>
            <a:ext cx="3272393" cy="198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Voir les instructions et leur effet sur les registres.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41707" y="3759200"/>
            <a:ext cx="3437493" cy="1877060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5" name="Shape 23"/>
          <p:cNvSpPr/>
          <p:nvPr/>
        </p:nvSpPr>
        <p:spPr>
          <a:xfrm>
            <a:off x="7941707" y="3759200"/>
            <a:ext cx="3437493" cy="1877060"/>
          </a:xfrm>
          <a:custGeom>
            <a:avLst/>
            <a:gdLst/>
            <a:ahLst/>
            <a:cxnLst/>
            <a:rect l="l" t="t" r="r" b="b"/>
            <a:pathLst>
              <a:path w="3437493" h="187706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61293" y="0"/>
                </a:lnTo>
                <a:arcTo wR="76200" hR="76200" stAng="16200000" swAng="5400000"/>
                <a:lnTo>
                  <a:pt x="3437493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6" name="Text 24"/>
          <p:cNvSpPr/>
          <p:nvPr/>
        </p:nvSpPr>
        <p:spPr>
          <a:xfrm>
            <a:off x="8106807" y="3939555"/>
            <a:ext cx="3200512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Anomalie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06807" y="4152900"/>
            <a:ext cx="3200512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Après corruption, EIP/ESP prennent des valeurs inattendues : signe d'un débordement.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12800" y="581407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: comprendre ce qu'on observe. Les commandes précises sont vues en laboratoire.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EXPLOITATION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Shellcode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10566400" cy="153162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10566400" cy="1531620"/>
          </a:xfrm>
          <a:custGeom>
            <a:avLst/>
            <a:gdLst/>
            <a:ahLst/>
            <a:cxnLst/>
            <a:rect l="l" t="t" r="r" b="b"/>
            <a:pathLst>
              <a:path w="10566400" h="1531620">
                <a:moveTo>
                  <a:pt x="76200" y="1531620"/>
                </a:moveTo>
                <a:lnTo>
                  <a:pt x="76200" y="15316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55420"/>
                </a:lnTo>
                <a:arcTo wR="25400" hR="76200" stAng="108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2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Shellcode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65"/>
            <a:ext cx="10203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 code machine brut, fourni par l'attaquant, souvent placé dans le tampon lui-même, qui lance généralement un interpréteur de commandes (un shell).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567435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Spécifique au processeur et à l'OS. L'objectif typique : exécuter /bin/sh.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EXPLOITATION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NOP sled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2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ne connaît pas l'adresse exacte du tampon. Astuce : précéder le shellcode d'une longue série d'instructions NOP (« ne rien faire »).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64033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suffit alors de viser </a:t>
            </a:r>
            <a:r>
              <a:rPr lang="en-US" sz="1400" i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quelque part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dans la zone de NOP : le CPU glisse jusqu'au shellcode.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EXPLOITATION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166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Assemblage de l'exploit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5975" y="1783730"/>
            <a:ext cx="1448673" cy="478790"/>
          </a:xfrm>
          <a:custGeom>
            <a:avLst/>
            <a:gdLst/>
            <a:ahLst/>
            <a:cxnLst/>
            <a:rect l="l" t="t" r="r" b="b"/>
            <a:pathLst>
              <a:path w="1448673" h="478790">
                <a:moveTo>
                  <a:pt x="34925" y="0"/>
                </a:moveTo>
                <a:lnTo>
                  <a:pt x="1413748" y="0"/>
                </a:lnTo>
                <a:arcTo wR="34925" hR="34925" stAng="16200000" swAng="5400000"/>
                <a:lnTo>
                  <a:pt x="1448673" y="443865"/>
                </a:lnTo>
                <a:arcTo wR="34925" hR="34925" stAng="0" swAng="5400000"/>
                <a:lnTo>
                  <a:pt x="34925" y="478790"/>
                </a:lnTo>
                <a:arcTo wR="34925" hR="34925" stAng="5400000" swAng="5400000"/>
                <a:lnTo>
                  <a:pt x="0" y="34925"/>
                </a:lnTo>
                <a:arcTo wR="34925" hR="34925" stAng="10800000" swAng="5400000"/>
                <a:close/>
              </a:path>
            </a:pathLst>
          </a:custGeom>
          <a:solidFill>
            <a:srgbClr val="F6DDD9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27305" tIns="141605" rIns="27305" bIns="116205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4498" y="1783730"/>
            <a:ext cx="1448753" cy="478790"/>
          </a:xfrm>
          <a:custGeom>
            <a:avLst/>
            <a:gdLst/>
            <a:ahLst/>
            <a:cxnLst/>
            <a:rect l="l" t="t" r="r" b="b"/>
            <a:pathLst>
              <a:path w="1448753" h="478790">
                <a:moveTo>
                  <a:pt x="34925" y="0"/>
                </a:moveTo>
                <a:lnTo>
                  <a:pt x="1413828" y="0"/>
                </a:lnTo>
                <a:arcTo wR="34925" hR="34925" stAng="16200000" swAng="5400000"/>
                <a:lnTo>
                  <a:pt x="1448753" y="443865"/>
                </a:lnTo>
                <a:arcTo wR="34925" hR="34925" stAng="0" swAng="5400000"/>
                <a:lnTo>
                  <a:pt x="34925" y="478790"/>
                </a:lnTo>
                <a:arcTo wR="34925" hR="34925" stAng="5400000" swAng="5400000"/>
                <a:lnTo>
                  <a:pt x="0" y="34925"/>
                </a:lnTo>
                <a:arcTo wR="34925" hR="34925" stAng="10800000" swAng="5400000"/>
                <a:close/>
              </a:path>
            </a:pathLst>
          </a:custGeom>
          <a:solidFill>
            <a:srgbClr val="F6DDD9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27305" tIns="141605" rIns="27305" bIns="116205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53101" y="1783730"/>
            <a:ext cx="1448673" cy="478790"/>
          </a:xfrm>
          <a:custGeom>
            <a:avLst/>
            <a:gdLst/>
            <a:ahLst/>
            <a:cxnLst/>
            <a:rect l="l" t="t" r="r" b="b"/>
            <a:pathLst>
              <a:path w="1448673" h="478790">
                <a:moveTo>
                  <a:pt x="34925" y="0"/>
                </a:moveTo>
                <a:lnTo>
                  <a:pt x="1413748" y="0"/>
                </a:lnTo>
                <a:arcTo wR="34925" hR="34925" stAng="16200000" swAng="5400000"/>
                <a:lnTo>
                  <a:pt x="1448673" y="443865"/>
                </a:lnTo>
                <a:arcTo wR="34925" hR="34925" stAng="0" swAng="5400000"/>
                <a:lnTo>
                  <a:pt x="34925" y="478790"/>
                </a:lnTo>
                <a:arcTo wR="34925" hR="34925" stAng="5400000" swAng="5400000"/>
                <a:lnTo>
                  <a:pt x="0" y="34925"/>
                </a:lnTo>
                <a:arcTo wR="34925" hR="34925" stAng="10800000" swAng="5400000"/>
                <a:close/>
              </a:path>
            </a:pathLst>
          </a:custGeom>
          <a:solidFill>
            <a:srgbClr val="F6DDD9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27305" tIns="141605" rIns="27305" bIns="116205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71624" y="1783730"/>
            <a:ext cx="1448753" cy="478790"/>
          </a:xfrm>
          <a:custGeom>
            <a:avLst/>
            <a:gdLst/>
            <a:ahLst/>
            <a:cxnLst/>
            <a:rect l="l" t="t" r="r" b="b"/>
            <a:pathLst>
              <a:path w="1448753" h="478790">
                <a:moveTo>
                  <a:pt x="34925" y="0"/>
                </a:moveTo>
                <a:lnTo>
                  <a:pt x="1413828" y="0"/>
                </a:lnTo>
                <a:arcTo wR="34925" hR="34925" stAng="16200000" swAng="5400000"/>
                <a:lnTo>
                  <a:pt x="1448753" y="443865"/>
                </a:lnTo>
                <a:arcTo wR="34925" hR="34925" stAng="0" swAng="5400000"/>
                <a:lnTo>
                  <a:pt x="34925" y="478790"/>
                </a:lnTo>
                <a:arcTo wR="34925" hR="34925" stAng="5400000" swAng="5400000"/>
                <a:lnTo>
                  <a:pt x="0" y="34925"/>
                </a:lnTo>
                <a:arcTo wR="34925" hR="34925" stAng="10800000" swAng="5400000"/>
                <a:close/>
              </a:path>
            </a:pathLst>
          </a:custGeom>
          <a:solidFill>
            <a:srgbClr val="E0999A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27305" tIns="141605" rIns="27305" bIns="116205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2A111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shell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90227" y="1783730"/>
            <a:ext cx="1448673" cy="478790"/>
          </a:xfrm>
          <a:custGeom>
            <a:avLst/>
            <a:gdLst/>
            <a:ahLst/>
            <a:cxnLst/>
            <a:rect l="l" t="t" r="r" b="b"/>
            <a:pathLst>
              <a:path w="1448673" h="478790">
                <a:moveTo>
                  <a:pt x="34925" y="0"/>
                </a:moveTo>
                <a:lnTo>
                  <a:pt x="1413748" y="0"/>
                </a:lnTo>
                <a:arcTo wR="34925" hR="34925" stAng="16200000" swAng="5400000"/>
                <a:lnTo>
                  <a:pt x="1448673" y="443865"/>
                </a:lnTo>
                <a:arcTo wR="34925" hR="34925" stAng="0" swAng="5400000"/>
                <a:lnTo>
                  <a:pt x="34925" y="478790"/>
                </a:lnTo>
                <a:arcTo wR="34925" hR="34925" stAng="5400000" swAng="5400000"/>
                <a:lnTo>
                  <a:pt x="0" y="34925"/>
                </a:lnTo>
                <a:arcTo wR="34925" hR="34925" stAng="10800000" swAng="5400000"/>
                <a:close/>
              </a:path>
            </a:pathLst>
          </a:custGeom>
          <a:solidFill>
            <a:srgbClr val="E0999A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27305" tIns="141605" rIns="27305" bIns="116205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2A111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shell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08750" y="1783730"/>
            <a:ext cx="1448753" cy="478790"/>
          </a:xfrm>
          <a:custGeom>
            <a:avLst/>
            <a:gdLst/>
            <a:ahLst/>
            <a:cxnLst/>
            <a:rect l="l" t="t" r="r" b="b"/>
            <a:pathLst>
              <a:path w="1448753" h="478790">
                <a:moveTo>
                  <a:pt x="34925" y="0"/>
                </a:moveTo>
                <a:lnTo>
                  <a:pt x="1413828" y="0"/>
                </a:lnTo>
                <a:arcTo wR="34925" hR="34925" stAng="16200000" swAng="5400000"/>
                <a:lnTo>
                  <a:pt x="1448753" y="443865"/>
                </a:lnTo>
                <a:arcTo wR="34925" hR="34925" stAng="0" swAng="5400000"/>
                <a:lnTo>
                  <a:pt x="34925" y="478790"/>
                </a:lnTo>
                <a:arcTo wR="34925" hR="34925" stAng="5400000" swAng="5400000"/>
                <a:lnTo>
                  <a:pt x="0" y="34925"/>
                </a:lnTo>
                <a:arcTo wR="34925" hR="34925" stAng="10800000" swAng="5400000"/>
                <a:close/>
              </a:path>
            </a:pathLst>
          </a:custGeom>
          <a:solidFill>
            <a:srgbClr val="E7EDF2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27305" tIns="141605" rIns="27305" bIns="116205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sfp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27352" y="1783730"/>
            <a:ext cx="1448673" cy="478790"/>
          </a:xfrm>
          <a:custGeom>
            <a:avLst/>
            <a:gdLst/>
            <a:ahLst/>
            <a:cxnLst/>
            <a:rect l="l" t="t" r="r" b="b"/>
            <a:pathLst>
              <a:path w="1448673" h="478790">
                <a:moveTo>
                  <a:pt x="34925" y="0"/>
                </a:moveTo>
                <a:lnTo>
                  <a:pt x="1413748" y="0"/>
                </a:lnTo>
                <a:arcTo wR="34925" hR="34925" stAng="16200000" swAng="5400000"/>
                <a:lnTo>
                  <a:pt x="1448673" y="443865"/>
                </a:lnTo>
                <a:arcTo wR="34925" hR="34925" stAng="0" swAng="5400000"/>
                <a:lnTo>
                  <a:pt x="34925" y="478790"/>
                </a:lnTo>
                <a:arcTo wR="34925" hR="34925" stAng="5400000" swAng="5400000"/>
                <a:lnTo>
                  <a:pt x="0" y="34925"/>
                </a:lnTo>
                <a:arcTo wR="34925" hR="34925" stAng="10800000" swAng="5400000"/>
                <a:close/>
              </a:path>
            </a:pathLst>
          </a:custGeom>
          <a:solidFill>
            <a:srgbClr val="C0392B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27305" tIns="141605" rIns="27305" bIns="116205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&amp;buf[0]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6098" y="2456185"/>
            <a:ext cx="458023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NOP sled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78657" y="2456185"/>
            <a:ext cx="305351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25803" y="2456185"/>
            <a:ext cx="153304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sfp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71552" y="2456185"/>
            <a:ext cx="153304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retour écrasé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2800" y="284227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</a:t>
            </a: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le CPU saute à &amp;buf[0], glisse dans les NOP, puis exécute le shellcode.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EXPLOITATION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Obtenir un shell : execve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30"/>
            <a:ext cx="10566400" cy="2368233"/>
          </a:xfrm>
          <a:prstGeom prst="roundRect">
            <a:avLst>
              <a:gd name="adj" fmla="val 3754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3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 but : execve("/bin/sh", NULL, NULL)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xor eax, eax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 nettoyer les registres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4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push eax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 terminateur nul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push "/bin//sh"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2200" y="307216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mov ebx, esp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 ebx -&gt; "/bin/sh"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2200" y="333786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mov al, 11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 numero d appel systeme execve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2200" y="360362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 0x80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 appel au noyau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12800" y="4301182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L'appel système execve avec /bin/sh remplace le processus par un shell.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EXPLOITATION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Contraintes du shellcode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20"/>
            <a:ext cx="1088339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Deux familles de contraintes à ne pas confondre 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12800" y="22758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Intrinsèques au shellcode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0425" y="2692400"/>
            <a:ext cx="108296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575" indent="-155575" algn="l">
              <a:lnSpc>
                <a:spcPts val="1688"/>
              </a:lnSpc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court et autonome : pas de section de données séparée ;</a:t>
            </a:r>
            <a:endParaRPr lang="en-US" sz="1250" dirty="0"/>
          </a:p>
          <a:p>
            <a:pPr marL="155575" indent="-155575" algn="l">
              <a:lnSpc>
                <a:spcPts val="1688"/>
              </a:lnSpc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indépendant de sa position : calcul d'adresses à l'exécution, </a:t>
            </a:r>
            <a:r>
              <a:rPr lang="en-US" sz="12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xor</a:t>
            </a: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mettre à zéro.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12800" y="332422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Imposées par le mode d'injection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0425" y="3740795"/>
            <a:ext cx="108296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575" indent="-155575" algn="l">
              <a:lnSpc>
                <a:spcPts val="1688"/>
              </a:lnSpc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octets interdits selon le vecteur : </a:t>
            </a:r>
            <a:r>
              <a:rPr lang="en-US" sz="12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0x00</a:t>
            </a: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via strcpy (arrêt sur le zéro), </a:t>
            </a:r>
            <a:r>
              <a:rPr lang="en-US" sz="12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0x0A</a:t>
            </a: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lecture de ligne, parfois </a:t>
            </a:r>
            <a:r>
              <a:rPr lang="en-US" sz="12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0x20</a:t>
            </a: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;</a:t>
            </a:r>
            <a:endParaRPr lang="en-US" sz="1250" dirty="0"/>
          </a:p>
          <a:p>
            <a:pPr marL="155575" indent="-155575" algn="l">
              <a:lnSpc>
                <a:spcPts val="1688"/>
              </a:lnSpc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taille maximale bornée par le tampon visé.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12800" y="437262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même shellcode peut passer par un vecteur et être rejeté par un autre.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EXPLOITATION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Fiabiliser avec jmp esp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2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Deviner l'adresse exacte de la pile est fragile (elle varie). Technique plus robuste 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6582" y="2338090"/>
            <a:ext cx="1084351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trouver dans le binaire une instruction </a:t>
            </a: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jmp esp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à une adresse fixe,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écraser l'adresse de retour avec celle de ce jmp esp,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ret, le CPU exécute jmp esp, qui saute en haut de la pile — où se trouve le shellcode.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28806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 et limites :</a:t>
            </a: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pile doit être exécutable (</a:t>
            </a:r>
            <a:r>
              <a:rPr lang="en-US" sz="1300" b="1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NX</a:t>
            </a: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rend la technique inopérante) ; le gadget jmp esp doit être à une adresse connue et fixe (</a:t>
            </a:r>
            <a:r>
              <a:rPr lang="en-US" sz="1300" b="1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ASLR/PIE</a:t>
            </a: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peuvent la randomiser) ; au ret, esp doit bien pointer sur le shellcode.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AU-DELÀ DE LA PILE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Heap overflow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30"/>
            <a:ext cx="10566400" cy="1570990"/>
          </a:xfrm>
          <a:prstGeom prst="roundRect">
            <a:avLst>
              <a:gd name="adj" fmla="val 5659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3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char *user = malloc(8);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char *admin = malloc(1);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allocation voisine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4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strcpy(user, "AAAAAAAAAAAA");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12 octets dans 8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admin peut etre ecrase -&gt; drapeau a vrai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2800" y="350396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principe est le même sur le tas. Note : avec glibc, des en-têtes de chunk séparent les allocations — la démo exacte demande de les prendre en compte.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DÉFENSES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Protections mémoire (aperçu)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30"/>
            <a:ext cx="5219700" cy="1967865"/>
          </a:xfrm>
          <a:prstGeom prst="roundRect">
            <a:avLst>
              <a:gd name="adj" fmla="val 387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755130"/>
            <a:ext cx="5219700" cy="1967865"/>
          </a:xfrm>
          <a:custGeom>
            <a:avLst/>
            <a:gdLst/>
            <a:ahLst/>
            <a:cxnLst/>
            <a:rect l="l" t="t" r="r" b="b"/>
            <a:pathLst>
              <a:path w="5219700" h="1967865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03300" y="1960910"/>
            <a:ext cx="498386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 canary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3300" y="2202210"/>
            <a:ext cx="498386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 témoin avant l'adresse de retour ; un écrasement la casse → abandon. Limite : contournable par fuite.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59500" y="1755130"/>
            <a:ext cx="5219700" cy="1967865"/>
          </a:xfrm>
          <a:prstGeom prst="roundRect">
            <a:avLst>
              <a:gd name="adj" fmla="val 387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59500" y="1755130"/>
            <a:ext cx="5219700" cy="1967865"/>
          </a:xfrm>
          <a:custGeom>
            <a:avLst/>
            <a:gdLst/>
            <a:ahLst/>
            <a:cxnLst/>
            <a:rect l="l" t="t" r="r" b="b"/>
            <a:pathLst>
              <a:path w="5219700" h="1967865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350000" y="1960910"/>
            <a:ext cx="498386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NX / DEP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0000" y="2202210"/>
            <a:ext cx="498386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Pile non exécutable : le shellcode en pile ne tourne pas. Limite : ret-to-libc / ROP.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800" y="3850035"/>
            <a:ext cx="5219700" cy="1786255"/>
          </a:xfrm>
          <a:prstGeom prst="roundRect">
            <a:avLst>
              <a:gd name="adj" fmla="val 426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812800" y="3850035"/>
            <a:ext cx="5219700" cy="1786255"/>
          </a:xfrm>
          <a:custGeom>
            <a:avLst/>
            <a:gdLst/>
            <a:ahLst/>
            <a:cxnLst/>
            <a:rect l="l" t="t" r="r" b="b"/>
            <a:pathLst>
              <a:path w="5219700" h="1786255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1003300" y="4055765"/>
            <a:ext cx="498386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ASLR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3300" y="4297065"/>
            <a:ext cx="4983861" cy="20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Adresses randomisées à chaque exécution. Limite : fuite d'information.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59500" y="3850035"/>
            <a:ext cx="5219700" cy="1786255"/>
          </a:xfrm>
          <a:prstGeom prst="roundRect">
            <a:avLst>
              <a:gd name="adj" fmla="val 426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7" name="Shape 15"/>
          <p:cNvSpPr/>
          <p:nvPr/>
        </p:nvSpPr>
        <p:spPr>
          <a:xfrm>
            <a:off x="6159500" y="3850035"/>
            <a:ext cx="5219700" cy="1786255"/>
          </a:xfrm>
          <a:custGeom>
            <a:avLst/>
            <a:gdLst/>
            <a:ahLst/>
            <a:cxnLst/>
            <a:rect l="l" t="t" r="r" b="b"/>
            <a:pathLst>
              <a:path w="5219700" h="1786255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8" name="Text 16"/>
          <p:cNvSpPr/>
          <p:nvPr/>
        </p:nvSpPr>
        <p:spPr>
          <a:xfrm>
            <a:off x="6350000" y="4055765"/>
            <a:ext cx="498386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0000" y="4297065"/>
            <a:ext cx="4983861" cy="20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l'exécutable aussi randomisée. Limite : fuite d'information.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2800" y="581407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Ces protections compliquent l'exploitation mais ne CORRIGENT pas la vulnérabilité : le bug est toujours là. Détaillées en Unité 4.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PRÉVENTION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Copies bornées (et leurs pièges)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30"/>
            <a:ext cx="3420507" cy="2966085"/>
          </a:xfrm>
          <a:prstGeom prst="roundRect">
            <a:avLst>
              <a:gd name="adj" fmla="val 29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755130"/>
            <a:ext cx="3420507" cy="2966085"/>
          </a:xfrm>
          <a:custGeom>
            <a:avLst/>
            <a:gdLst/>
            <a:ahLst/>
            <a:cxnLst/>
            <a:rect l="l" t="t" r="r" b="b"/>
            <a:pathLst>
              <a:path w="3420507" h="296608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03300" y="1986310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Bien dimensionner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3300" y="2255540"/>
            <a:ext cx="3130692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Calculer la taille en réservant un octet pour le terminateur \0 : un tampon de N octets contient N-1 caractères utiles.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5707" y="1755130"/>
            <a:ext cx="3420586" cy="2966085"/>
          </a:xfrm>
          <a:prstGeom prst="roundRect">
            <a:avLst>
              <a:gd name="adj" fmla="val 29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85707" y="1755130"/>
            <a:ext cx="3420586" cy="2966085"/>
          </a:xfrm>
          <a:custGeom>
            <a:avLst/>
            <a:gdLst/>
            <a:ahLst/>
            <a:cxnLst/>
            <a:rect l="l" t="t" r="r" b="b"/>
            <a:pathLst>
              <a:path w="3420586" h="296608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86" y="0"/>
                </a:lnTo>
                <a:arcTo wR="88900" hR="88900" stAng="16200000" swAng="5400000"/>
                <a:lnTo>
                  <a:pt x="3420586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576207" y="1986310"/>
            <a:ext cx="313077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Piège strncpy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6207" y="2255540"/>
            <a:ext cx="3130774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la source remplit toute la taille, strncpy NE pose PAS le \0 → chaîne non terminée → lecture hors-bornes ensuite.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8693" y="1755130"/>
            <a:ext cx="3420507" cy="2966085"/>
          </a:xfrm>
          <a:prstGeom prst="roundRect">
            <a:avLst>
              <a:gd name="adj" fmla="val 29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58693" y="1755130"/>
            <a:ext cx="3420507" cy="2966085"/>
          </a:xfrm>
          <a:custGeom>
            <a:avLst/>
            <a:gdLst/>
            <a:ahLst/>
            <a:cxnLst/>
            <a:rect l="l" t="t" r="r" b="b"/>
            <a:pathLst>
              <a:path w="3420507" h="296608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149193" y="1986310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Piège strncat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49193" y="2255540"/>
            <a:ext cx="3130692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3e argument est le NOMBRE d'octets à ajouter, pas la taille du tampon : erreur de calcul fréquente → débordement.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800" y="4899025"/>
            <a:ext cx="10566400" cy="1146175"/>
          </a:xfrm>
          <a:prstGeom prst="roundRect">
            <a:avLst>
              <a:gd name="adj" fmla="val 7756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7" name="Text 15"/>
          <p:cNvSpPr/>
          <p:nvPr/>
        </p:nvSpPr>
        <p:spPr>
          <a:xfrm>
            <a:off x="1092200" y="5114925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strncpy(dst, src, n);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2200" y="5353050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dst[n-1] = '\0';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2200" y="5591175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sinon chaine potentiellement non terminee</a:t>
            </a:r>
            <a:endParaRPr lang="en-US" sz="12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PRÉVENTION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Corriger la faille ≠ atténuer l'exploitation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30"/>
            <a:ext cx="5207000" cy="3881120"/>
          </a:xfrm>
          <a:prstGeom prst="roundRect">
            <a:avLst>
              <a:gd name="adj" fmla="val 2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755130"/>
            <a:ext cx="5207000" cy="3881120"/>
          </a:xfrm>
          <a:custGeom>
            <a:avLst/>
            <a:gdLst/>
            <a:ahLst/>
            <a:cxnLst/>
            <a:rect l="l" t="t" r="r" b="b"/>
            <a:pathLst>
              <a:path w="5207000" h="388112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18100" y="0"/>
                </a:lnTo>
                <a:arcTo wR="88900" hR="88900" stAng="16200000" swAng="5400000"/>
                <a:lnTo>
                  <a:pt x="52070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03300" y="1986310"/>
            <a:ext cx="497078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Corriger la vulnérabilité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3300" y="2255540"/>
            <a:ext cx="4970780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Supprimer la cause (la borne manquante) : le bug n'existe plus. C'est la vraie solution.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755130"/>
            <a:ext cx="5207000" cy="3881120"/>
          </a:xfrm>
          <a:prstGeom prst="roundRect">
            <a:avLst>
              <a:gd name="adj" fmla="val 2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72200" y="1755130"/>
            <a:ext cx="5207000" cy="3881120"/>
          </a:xfrm>
          <a:custGeom>
            <a:avLst/>
            <a:gdLst/>
            <a:ahLst/>
            <a:cxnLst/>
            <a:rect l="l" t="t" r="r" b="b"/>
            <a:pathLst>
              <a:path w="5207000" h="388112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18100" y="0"/>
                </a:lnTo>
                <a:arcTo wR="88900" hR="88900" stAng="16200000" swAng="5400000"/>
                <a:lnTo>
                  <a:pt x="52070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362700" y="1986310"/>
            <a:ext cx="497078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Atténuer l'exploitation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62700" y="2255540"/>
            <a:ext cx="4970780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Canary/NX/ASLR/PIE rendent l'attaque plus difficile, mais le bug subsiste : un contournement reste possible.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2800" y="581407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C6E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production, on fait les deux — mais seule la correction du code élimine réellement le risque.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LABO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 labos de l'unité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Lire la pile avec gdb, observer le débordement.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3262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94200" y="183262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6228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stack1 / stack2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28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Modifier une variable, trouver le padding, détourner le flux.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3262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75600" y="183262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2042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42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Injecter un shellcode et obtenir un shell complet.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2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À retenir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39470" y="1832620"/>
            <a:ext cx="1085062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 n'a pas de vérification de bornes : écrire hors tampon écrase la mémoire voisine.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la pile, la cible est l'adresse de retour.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shellcode + NOP sled + adresse de retour écrasée = exécution de code arbitraire.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jmp esp fiabilise l'exploit ; le même principe vaut sur le tas.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382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Unité 2 — Sécurité mémoire et stack overflow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8232"/>
            <a:ext cx="10883392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9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551882"/>
            <a:ext cx="10883392" cy="54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Heap &amp; erreurs temporelles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2800" y="4249738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Use-after-free, double-free, aliasing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MÉMOIRE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Deux familles d'erreurs mémoire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Spatiales (Unité 2)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Accéder hors des bornes d'un objet : buffer overflow, lecture hors limites.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2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2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Temporelles (ici)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Accéder à un objet au mauvais moment : use-after-free, double-free, lecture non initialisée.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LE TAS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L'allocateur et ses chunks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201" y="1832620"/>
            <a:ext cx="10843895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malloc découpe le tas en </a:t>
            </a: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chunks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; chaque chunk a un en-tête (taille, drapeaux).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remet le chunk dans une </a:t>
            </a: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 chaînée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blocs libres.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objets voisins sont placés proches les uns des autres.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Corrompre un en-tête ou un objet voisin, c'est corrompre l'allocateur lui-même.</a:t>
            </a:r>
            <a:endParaRPr lang="en-US" sz="14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LE TAS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Heap overflow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2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débordement sur un objet du tas écrase silencieusement les données ou les métadonnées du suivant.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6582" y="2640360"/>
            <a:ext cx="1084351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Cible fréquente : un pointeur de fonction, une vtable C++, un drapeau de sécurité.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Même logique que la pile, mais la disposition dépend de l'allocateur.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USE-AFTER-FREE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Définition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10566400" cy="153162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10566400" cy="1531620"/>
          </a:xfrm>
          <a:custGeom>
            <a:avLst/>
            <a:gdLst/>
            <a:ahLst/>
            <a:cxnLst/>
            <a:rect l="l" t="t" r="r" b="b"/>
            <a:pathLst>
              <a:path w="10566400" h="1531620">
                <a:moveTo>
                  <a:pt x="76200" y="1531620"/>
                </a:moveTo>
                <a:lnTo>
                  <a:pt x="76200" y="15316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55420"/>
                </a:lnTo>
                <a:arcTo wR="25400" hR="76200" stAng="108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2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Use-after-free (UAF)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90"/>
            <a:ext cx="10203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un pointeur après que la mémoire qu'il désigne a été libérée. Le pointeur était valide, il ne l'est plus : on parle de </a:t>
            </a:r>
            <a:r>
              <a:rPr lang="en-US" sz="1600" i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pointeur fantôme</a:t>
            </a: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(dangling).</a:t>
            </a:r>
            <a:endParaRPr lang="en-US" sz="1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USE-AFTER-FREE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30"/>
            <a:ext cx="10566400" cy="2102485"/>
          </a:xfrm>
          <a:prstGeom prst="roundRect">
            <a:avLst>
              <a:gd name="adj" fmla="val 4228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3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struct Session { </a:t>
            </a: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(*on_logout)(); };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Session *s = </a:t>
            </a: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Session{logout_handler};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4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delete s;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memoire rendue a l allocateur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... s est maintenant un pointeur fantome ...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2200" y="307216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s-&gt;on_logout();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execute du code arbitraire si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2200" y="333786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l allocateur a reutilise le bloc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2800" y="4035425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pointeur survit à l'objet. S'il est déréférencé après réutilisation du bloc, tout peut arriver.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USE-AFTER-FREE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schéma d'exploitation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5419" y="1832620"/>
            <a:ext cx="10873915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5981" indent="-225981" algn="l">
              <a:lnSpc>
                <a:spcPts val="2175"/>
              </a:lnSpc>
              <a:buSzPct val="100000"/>
              <a:buFontTx/>
              <a:buAutoNum type="arabicPeriod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Libérer l'objet victime (free / delete).</a:t>
            </a:r>
            <a:endParaRPr lang="en-US" sz="1500" dirty="0"/>
          </a:p>
          <a:p>
            <a:pPr marL="225981" indent="-225981" algn="l">
              <a:lnSpc>
                <a:spcPts val="2175"/>
              </a:lnSpc>
              <a:buSzPct val="100000"/>
              <a:buFontTx/>
              <a:buAutoNum type="arabicPeriod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Déclencher une allocation de même taille : l'allocateur rend le même bloc, rempli d'octets contrôlés par l'attaquant (fausse vtable, faux pointeur de fonction).</a:t>
            </a:r>
            <a:endParaRPr lang="en-US" sz="1500" dirty="0"/>
          </a:p>
          <a:p>
            <a:pPr marL="225981" indent="-225981" algn="l">
              <a:lnSpc>
                <a:spcPts val="2175"/>
              </a:lnSpc>
              <a:buSzPct val="100000"/>
              <a:buFontTx/>
              <a:buAutoNum type="arabicPeriod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Attendre que le pointeur fantôme soit déréférencé.</a:t>
            </a:r>
            <a:endParaRPr lang="en-US" sz="1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USE-AFTER-FREE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547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 trois temps du UAF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60488" y="1856730"/>
            <a:ext cx="857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Vivant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200275"/>
            <a:ext cx="3346450" cy="938530"/>
          </a:xfrm>
          <a:prstGeom prst="roundRect">
            <a:avLst>
              <a:gd name="adj" fmla="val 7781"/>
            </a:avLst>
          </a:prstGeom>
          <a:solidFill>
            <a:srgbClr val="F0E2C4"/>
          </a:solidFill>
          <a:ln w="6350">
            <a:solidFill>
              <a:srgbClr val="DFE3E9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898550" y="2456210"/>
            <a:ext cx="31812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8550" y="2669530"/>
            <a:ext cx="31812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vtable = logout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24521" y="3269010"/>
            <a:ext cx="3292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↑ 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59191" y="1856730"/>
            <a:ext cx="87353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Libéré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22775" y="2200275"/>
            <a:ext cx="3346450" cy="725170"/>
          </a:xfrm>
          <a:prstGeom prst="roundRect">
            <a:avLst>
              <a:gd name="adj" fmla="val 10070"/>
            </a:avLst>
          </a:prstGeom>
          <a:solidFill>
            <a:srgbClr val="E7EDF2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61187" tIns="234517" rIns="61187" bIns="209117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bloc libre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31321" y="3055640"/>
            <a:ext cx="3292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↑ 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36261" y="1856730"/>
            <a:ext cx="11329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Réutilisé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29575" y="2200275"/>
            <a:ext cx="3346450" cy="938530"/>
          </a:xfrm>
          <a:prstGeom prst="roundRect">
            <a:avLst>
              <a:gd name="adj" fmla="val 7781"/>
            </a:avLst>
          </a:prstGeom>
          <a:solidFill>
            <a:srgbClr val="E0999A"/>
          </a:solidFill>
          <a:ln w="6350">
            <a:solidFill>
              <a:srgbClr val="DFE3E9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112151" y="2456210"/>
            <a:ext cx="31812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A111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octets attaquant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12151" y="2669530"/>
            <a:ext cx="31812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A111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vtable = shellcode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38121" y="3269010"/>
            <a:ext cx="3292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↑ 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5805190"/>
            <a:ext cx="1088339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pointeur s ne bouge pas ; c'est le contenu du bloc qui change sous lui.</a:t>
            </a:r>
            <a:endParaRPr lang="en-US" sz="13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DOUBLE-FREE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Libérer deux fois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30"/>
            <a:ext cx="10566400" cy="1570990"/>
          </a:xfrm>
          <a:prstGeom prst="roundRect">
            <a:avLst>
              <a:gd name="adj" fmla="val 5659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3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char *p = malloc(32);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free(p);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4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/* ... beaucoup de code ... */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free(p);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boum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2800" y="350396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second free corrompt les listes chaînées de l'allocateur. Les exploits « unlink » classiques s'en servaient pour faire renvoyer à malloc une adresse choisie.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DOUBLE-FREE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Pourquoi ça arrive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201" y="1832620"/>
            <a:ext cx="10843895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chemins de gestion d'erreur qui exécutent le nettoyage plusieurs fois.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</a:t>
            </a: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propriété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(ownership) du pointeur floue entre deux modules.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Remède : une seule responsabilité de libération, et mettre le pointeur à NULL après free.</a:t>
            </a:r>
            <a:endParaRPr lang="en-US" sz="14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AUTRES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Lecture de mémoire non initialisée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2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Lire une variable ou un tampon avant de lui avoir donné une valeur.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6582" y="2338090"/>
            <a:ext cx="1084351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contenu est « ce qui traînait » en mémoire : données d'un autre calcul, parfois sensibles.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Comportement non déterminé ; peut fuiter de l'information ou fausser une décision.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ALIASING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Définition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10566400" cy="153162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10566400" cy="1531620"/>
          </a:xfrm>
          <a:custGeom>
            <a:avLst/>
            <a:gdLst/>
            <a:ahLst/>
            <a:cxnLst/>
            <a:rect l="l" t="t" r="r" b="b"/>
            <a:pathLst>
              <a:path w="10566400" h="1531620">
                <a:moveTo>
                  <a:pt x="76200" y="1531620"/>
                </a:moveTo>
                <a:lnTo>
                  <a:pt x="76200" y="15316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5542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2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Aliasing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90"/>
            <a:ext cx="10203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Deux noms distincts (variables, pointeurs, références) désignent le même emplacement mémoire : une écriture via l'un est visible via l'autre.</a:t>
            </a:r>
            <a:endParaRPr lang="en-US" sz="16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ALIASING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Pourquoi c'est dangereux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201" y="1832620"/>
            <a:ext cx="10843895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Correction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le résultat d'un test dépend de savoir si deux pointeurs se chevauchent.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Optimisation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le compilateur ne peut pas garder une valeur en registre en sécurité.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Sûreté mémoire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libérer via un alias laisse l'autre pendant.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Concurrence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deux écritures aliasées depuis deux threads = data race.</a:t>
            </a:r>
            <a:endParaRPr lang="en-US" sz="14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ALIASING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Invalidation d'itérateur (C++)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30"/>
            <a:ext cx="10566400" cy="1570990"/>
          </a:xfrm>
          <a:prstGeom prst="roundRect">
            <a:avLst>
              <a:gd name="adj" fmla="val 5659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3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std::vector&lt;int&gt; v = {1, 2, 3, 4};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 &amp;first = v[0];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reference dans le tampon de v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4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v.push_back(5);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peut reallouer -&gt; deplace le tampon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std::cout &lt;&lt; first;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reference pendante -&gt; comportement indefini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2800" y="350396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était un alias du stockage de v ; push_back a réalloué ; first pointe désormais dans de la mémoire libérée.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ALIASING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mot-clé restrict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2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C, </a:t>
            </a:r>
            <a:r>
              <a:rPr lang="en-US" sz="17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</a:t>
            </a: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promet au compilateur qu'un pointeur n'a pas d'alias, ce qui autorise des optimisations (vectorisation, réordonnancement).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640360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c'est une </a:t>
            </a:r>
            <a:r>
              <a:rPr lang="en-US" sz="1400" i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promesse non vérifiée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si vous mentez, le compilateur génère du code cassé. Les règles d'aliasing en C/C++ ne sont pas contrôlées.</a:t>
            </a:r>
            <a:endParaRPr lang="en-US" sz="1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ÉTUDE DE CAS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Heartbleed en détail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30"/>
            <a:ext cx="10566400" cy="1570990"/>
          </a:xfrm>
          <a:prstGeom prst="roundRect">
            <a:avLst>
              <a:gd name="adj" fmla="val 5659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3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struct { uint8 type; uint16 length;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opaque payload[length]; } HB;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4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/* code vulnerable simplifie */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memcpy(response, req-&gt;payload, req-&gt;length);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!!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2800" y="350396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charge utile réelle faisait quelques octets, mais l'attaquant pouvait mettre length = 65535. Le serveur recopiait 64 Ko de ce qui suivait en mémoire — mots de passe, clés privées. Une seule vérification de borne manquante.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7206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88580"/>
            <a:ext cx="10883392" cy="1115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« Qui a le droit de lire ou d'écrire cet emplacement, et quand ? »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2800" y="398145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plupart des bugs mémoire se ramènent à cette question. Le C/C++ laisse la réponse dans la tête du programmeur. On verra (Unité 6) que Rust la met dans le système de types.</a:t>
            </a:r>
            <a:endParaRPr lang="en-US" sz="17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OUTILS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912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AddressSanitizer (ASan)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2973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Compilé avec -fsanitize=address, ASan instrumente le programme : il entoure chaque objet de « zones rouges » et contrôle chaque accès mémoire à l'exécution.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800" y="2357140"/>
            <a:ext cx="3429000" cy="2202180"/>
          </a:xfrm>
          <a:prstGeom prst="roundRect">
            <a:avLst>
              <a:gd name="adj" fmla="val 403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Shape 4"/>
          <p:cNvSpPr/>
          <p:nvPr/>
        </p:nvSpPr>
        <p:spPr>
          <a:xfrm>
            <a:off x="812800" y="2357140"/>
            <a:ext cx="3429000" cy="2202180"/>
          </a:xfrm>
          <a:custGeom>
            <a:avLst/>
            <a:gdLst/>
            <a:ahLst/>
            <a:cxnLst/>
            <a:rect l="l" t="t" r="r" b="b"/>
            <a:pathLst>
              <a:path w="3429000" h="220218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40100" y="0"/>
                </a:lnTo>
                <a:arcTo wR="88900" hR="88900" stAng="16200000" swAng="5400000"/>
                <a:lnTo>
                  <a:pt x="34290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7" name="Text 5"/>
          <p:cNvSpPr/>
          <p:nvPr/>
        </p:nvSpPr>
        <p:spPr>
          <a:xfrm>
            <a:off x="990600" y="2575570"/>
            <a:ext cx="31656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Erreurs détectées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90600" y="2823220"/>
            <a:ext cx="3165602" cy="59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Débordements de tampon (pile et tas), use-after-free, double-free, accès hors-bornes sur variables globales.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1500" y="2357140"/>
            <a:ext cx="3429000" cy="2202180"/>
          </a:xfrm>
          <a:prstGeom prst="roundRect">
            <a:avLst>
              <a:gd name="adj" fmla="val 403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Shape 8"/>
          <p:cNvSpPr/>
          <p:nvPr/>
        </p:nvSpPr>
        <p:spPr>
          <a:xfrm>
            <a:off x="4381500" y="2357140"/>
            <a:ext cx="3429000" cy="2202180"/>
          </a:xfrm>
          <a:custGeom>
            <a:avLst/>
            <a:gdLst/>
            <a:ahLst/>
            <a:cxnLst/>
            <a:rect l="l" t="t" r="r" b="b"/>
            <a:pathLst>
              <a:path w="3429000" h="220218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40100" y="0"/>
                </a:lnTo>
                <a:arcTo wR="88900" hR="88900" stAng="16200000" swAng="5400000"/>
                <a:lnTo>
                  <a:pt x="34290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1" name="Text 9"/>
          <p:cNvSpPr/>
          <p:nvPr/>
        </p:nvSpPr>
        <p:spPr>
          <a:xfrm>
            <a:off x="4559300" y="2575570"/>
            <a:ext cx="31656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Structure du rapport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59300" y="2823220"/>
            <a:ext cx="3165602" cy="59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d'erreur → opération (READ/WRITE of size N) → pile d'appels → infos d'allocation/libération → SUMMARY.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0200" y="2357140"/>
            <a:ext cx="3429000" cy="2202180"/>
          </a:xfrm>
          <a:prstGeom prst="roundRect">
            <a:avLst>
              <a:gd name="adj" fmla="val 403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Shape 12"/>
          <p:cNvSpPr/>
          <p:nvPr/>
        </p:nvSpPr>
        <p:spPr>
          <a:xfrm>
            <a:off x="7950200" y="2357140"/>
            <a:ext cx="3429000" cy="2202180"/>
          </a:xfrm>
          <a:custGeom>
            <a:avLst/>
            <a:gdLst/>
            <a:ahLst/>
            <a:cxnLst/>
            <a:rect l="l" t="t" r="r" b="b"/>
            <a:pathLst>
              <a:path w="3429000" h="220218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40100" y="0"/>
                </a:lnTo>
                <a:arcTo wR="88900" hR="88900" stAng="16200000" swAng="5400000"/>
                <a:lnTo>
                  <a:pt x="34290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5" name="Text 13"/>
          <p:cNvSpPr/>
          <p:nvPr/>
        </p:nvSpPr>
        <p:spPr>
          <a:xfrm>
            <a:off x="8128000" y="2575570"/>
            <a:ext cx="31656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Alloc / free / accès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28000" y="2823220"/>
            <a:ext cx="3165602" cy="59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allocated here » = où l'objet est né ; « freed here » = où il a été libéré ; l'accès fautif pointe VOTRE code et sa ligne.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800" y="4724400"/>
            <a:ext cx="10566400" cy="1320800"/>
          </a:xfrm>
          <a:prstGeom prst="roundRect">
            <a:avLst>
              <a:gd name="adj" fmla="val 6731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8" name="Text 16"/>
          <p:cNvSpPr/>
          <p:nvPr/>
        </p:nvSpPr>
        <p:spPr>
          <a:xfrm>
            <a:off x="1092200" y="4927600"/>
            <a:ext cx="1030782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==ERROR: AddressSanitizer: heap-use-after-free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2200" y="5156200"/>
            <a:ext cx="1030782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 of size 8 ... # acces invalide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2200" y="5384800"/>
            <a:ext cx="1030782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freed by thread T0 here: uaf.c:10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2200" y="5613400"/>
            <a:ext cx="1030782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previously allocated here: uaf.c:7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OUTILS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912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Valgrind Memcheck &amp; complémentarité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2973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Valgrind exécute le binaire dans une machine virtuelle et suit chaque octet : aucune recompilation nécessaire.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800" y="2126010"/>
            <a:ext cx="3429000" cy="2263140"/>
          </a:xfrm>
          <a:prstGeom prst="roundRect">
            <a:avLst>
              <a:gd name="adj" fmla="val 39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Shape 4"/>
          <p:cNvSpPr/>
          <p:nvPr/>
        </p:nvSpPr>
        <p:spPr>
          <a:xfrm>
            <a:off x="812800" y="2126010"/>
            <a:ext cx="3429000" cy="2263140"/>
          </a:xfrm>
          <a:custGeom>
            <a:avLst/>
            <a:gdLst/>
            <a:ahLst/>
            <a:cxnLst/>
            <a:rect l="l" t="t" r="r" b="b"/>
            <a:pathLst>
              <a:path w="3429000" h="226314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40100" y="0"/>
                </a:lnTo>
                <a:arcTo wR="88900" hR="88900" stAng="16200000" swAng="5400000"/>
                <a:lnTo>
                  <a:pt x="34290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7" name="Text 5"/>
          <p:cNvSpPr/>
          <p:nvPr/>
        </p:nvSpPr>
        <p:spPr>
          <a:xfrm>
            <a:off x="990600" y="2344440"/>
            <a:ext cx="31656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Valeurs non initialisées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90600" y="2592090"/>
            <a:ext cx="3165602" cy="59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Memcheck détecte l'usage de mémoire jamais écrite (ex. un branchement qui dépend d'une variable non initialisée).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1500" y="2126010"/>
            <a:ext cx="3429000" cy="2263140"/>
          </a:xfrm>
          <a:prstGeom prst="roundRect">
            <a:avLst>
              <a:gd name="adj" fmla="val 39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Shape 8"/>
          <p:cNvSpPr/>
          <p:nvPr/>
        </p:nvSpPr>
        <p:spPr>
          <a:xfrm>
            <a:off x="4381500" y="2126010"/>
            <a:ext cx="3429000" cy="2263140"/>
          </a:xfrm>
          <a:custGeom>
            <a:avLst/>
            <a:gdLst/>
            <a:ahLst/>
            <a:cxnLst/>
            <a:rect l="l" t="t" r="r" b="b"/>
            <a:pathLst>
              <a:path w="3429000" h="226314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40100" y="0"/>
                </a:lnTo>
                <a:arcTo wR="88900" hR="88900" stAng="16200000" swAng="5400000"/>
                <a:lnTo>
                  <a:pt x="34290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1" name="Text 9"/>
          <p:cNvSpPr/>
          <p:nvPr/>
        </p:nvSpPr>
        <p:spPr>
          <a:xfrm>
            <a:off x="4559300" y="2344440"/>
            <a:ext cx="31656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Pourquoi ASan ne le voit pas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59300" y="2592090"/>
            <a:ext cx="3165602" cy="59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ASan vérifie les ADRESSES (valide / libéré / hors-bornes), pas si le contenu a été initialisé : cette catégorie lui échappe.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0200" y="2126010"/>
            <a:ext cx="3429000" cy="2263140"/>
          </a:xfrm>
          <a:prstGeom prst="roundRect">
            <a:avLst>
              <a:gd name="adj" fmla="val 39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Shape 12"/>
          <p:cNvSpPr/>
          <p:nvPr/>
        </p:nvSpPr>
        <p:spPr>
          <a:xfrm>
            <a:off x="7950200" y="2126010"/>
            <a:ext cx="3429000" cy="2263140"/>
          </a:xfrm>
          <a:custGeom>
            <a:avLst/>
            <a:gdLst/>
            <a:ahLst/>
            <a:cxnLst/>
            <a:rect l="l" t="t" r="r" b="b"/>
            <a:pathLst>
              <a:path w="3429000" h="226314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40100" y="0"/>
                </a:lnTo>
                <a:arcTo wR="88900" hR="88900" stAng="16200000" swAng="5400000"/>
                <a:lnTo>
                  <a:pt x="34290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5" name="Text 13"/>
          <p:cNvSpPr/>
          <p:nvPr/>
        </p:nvSpPr>
        <p:spPr>
          <a:xfrm>
            <a:off x="8128000" y="2344440"/>
            <a:ext cx="31656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ASan vs Valgrind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28000" y="2592090"/>
            <a:ext cx="3165602" cy="59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ASan : recompilation, rapide (≈2×), surtout l'adressage. Valgrind : sans recompiler, lent (≈10-50×), couvre en plus le non-initialisé.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800" y="4554240"/>
            <a:ext cx="10566400" cy="863600"/>
          </a:xfrm>
          <a:prstGeom prst="roundRect">
            <a:avLst>
              <a:gd name="adj" fmla="val 10294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8" name="Text 16"/>
          <p:cNvSpPr/>
          <p:nvPr/>
        </p:nvSpPr>
        <p:spPr>
          <a:xfrm>
            <a:off x="1092200" y="4757440"/>
            <a:ext cx="1030782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== Conditional jump or move depends on uninitialised value(s)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2200" y="4986040"/>
            <a:ext cx="1030782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== at main (uninit.c:8)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558294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MemorySanitizer (-fsanitize=memory) couvre aussi le non-initialisé par instrumentation, mais exige de recompiler toutes les dépendances.</a:t>
            </a:r>
            <a:endParaRPr lang="en-US" sz="13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LABO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 de l'unité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5194300" cy="37782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5194300" cy="3778250"/>
          </a:xfrm>
          <a:custGeom>
            <a:avLst/>
            <a:gdLst/>
            <a:ahLst/>
            <a:cxnLst/>
            <a:rect l="l" t="t" r="r" b="b"/>
            <a:pathLst>
              <a:path w="51943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UAF &amp; double-free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Écrire le bug en C, le déclencher, observer le comportement.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20"/>
            <a:ext cx="5194300" cy="37782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20"/>
            <a:ext cx="5194300" cy="3778250"/>
          </a:xfrm>
          <a:custGeom>
            <a:avLst/>
            <a:gdLst/>
            <a:ahLst/>
            <a:cxnLst/>
            <a:rect l="l" t="t" r="r" b="b"/>
            <a:pathLst>
              <a:path w="51943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AddressSanitizer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Recompiler avec -fsanitize=address : ASan localise précisément l'erreur.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581407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onlinegdb suffit ici pour observer, ASan est dispo localement dans l'image Docker.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3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À retenir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39470" y="1832620"/>
            <a:ext cx="1085062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erreurs temporelles portent sur le </a:t>
            </a:r>
            <a:r>
              <a:rPr lang="en-US" sz="1500" i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moment</a:t>
            </a: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l'accès, pas sa position.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UAF, double-free, lecture non initialisée corrompent l'allocateur ou fuient des données.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L'aliasing rend le code difficile à raisonner et à optimiser en sécurité.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 revient à : qui lit/écrit cet emplacement, et quand 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382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Unité 3 — Heap &amp; erreurs temporelles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8232"/>
            <a:ext cx="10883392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9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551882"/>
            <a:ext cx="10883392" cy="54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Défenses &amp; contournements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2800" y="4249738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Canary, NX, ASLR — et comment on les déjoue</a:t>
            </a:r>
            <a:endParaRPr lang="en-US" sz="18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DÉFENSES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Deux grandes approches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5194300" cy="37782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5194300" cy="3778250"/>
          </a:xfrm>
          <a:custGeom>
            <a:avLst/>
            <a:gdLst/>
            <a:ahLst/>
            <a:cxnLst/>
            <a:rect l="l" t="t" r="r" b="b"/>
            <a:pathLst>
              <a:path w="51943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Compile-time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Durcir le code à la compilation : langage sûr, canary, vérifications insérées.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20"/>
            <a:ext cx="5194300" cy="37782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20"/>
            <a:ext cx="5194300" cy="3778250"/>
          </a:xfrm>
          <a:custGeom>
            <a:avLst/>
            <a:gdLst/>
            <a:ahLst/>
            <a:cxnLst/>
            <a:rect l="l" t="t" r="r" b="b"/>
            <a:pathLst>
              <a:path w="51943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Run-time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Détecter et stopper l'attaque à l'exécution : ASLR, pile non exécutable.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581407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Aucune n'est parfaite : chaque défense a son contournement. D'où la défense en profondeur.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COMPILE-TIME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 canary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20"/>
            <a:ext cx="113792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compilateur insère une valeur aléatoire (le </a:t>
            </a:r>
            <a:r>
              <a:rPr lang="en-US" sz="17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canary</a:t>
            </a: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entre les variables locales et l'adresse de retour.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6582" y="2338090"/>
            <a:ext cx="1084351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l'entrée de la fonction : écrire le canary.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la sortie : vérifier qu'il est intact.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overflow qui atteint l'adresse de retour a forcément écrasé le canary → le programme s'arrête.</a:t>
            </a:r>
            <a:endParaRPr lang="en-US" sz="14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CONTOURNEMENT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Limites du canary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201" y="1832620"/>
            <a:ext cx="10843895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Inefficace si l'attaquant peut </a:t>
            </a: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lire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 canary (fuite d'information) puis le réécrire à l'identique.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Inefficace contre une écriture </a:t>
            </a: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ciblée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qui saute par-dessus le canary (ex. via un index).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protège pas le tas.</a:t>
            </a:r>
            <a:endParaRPr lang="en-US" sz="14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RUN-TIME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NX / DEP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10566400" cy="153162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10566400" cy="1531620"/>
          </a:xfrm>
          <a:custGeom>
            <a:avLst/>
            <a:gdLst/>
            <a:ahLst/>
            <a:cxnLst/>
            <a:rect l="l" t="t" r="r" b="b"/>
            <a:pathLst>
              <a:path w="10566400" h="1531620">
                <a:moveTo>
                  <a:pt x="76200" y="1531620"/>
                </a:moveTo>
                <a:lnTo>
                  <a:pt x="76200" y="15316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5542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2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NX (No-eXecute) / DEP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90"/>
            <a:ext cx="10203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Marquer la pile et le tas comme non exécutables : les données qu'on y écrit ne peuvent pas être exécutées comme du code.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56746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Conséquence directe : le shellcode placé dans le tampon (Unité 2) ne s'exécute plus.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7206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CONTOURNEMENT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88580"/>
            <a:ext cx="10883392" cy="1115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 on ne peut plus exécuter ses octets, on réutilise ceux du programme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2800" y="398145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Puisque le shellcode est bloqué, l'attaquant détourne le flux vers du code </a:t>
            </a:r>
            <a:r>
              <a:rPr lang="en-US" sz="1700" i="1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déjà présent</a:t>
            </a:r>
            <a:r>
              <a:rPr lang="en-US" sz="17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exécutable : les bibliothèques du programme.</a:t>
            </a:r>
            <a:endParaRPr lang="en-US" sz="17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CONTOURNEMENT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ret2libc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30"/>
            <a:ext cx="10566400" cy="1836737"/>
          </a:xfrm>
          <a:prstGeom prst="roundRect">
            <a:avLst>
              <a:gd name="adj" fmla="val 4840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3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 la pile contient, a la place du shellcode 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adresse de system()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4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adresse de retour (bidon)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pointeur vers la chaine "/bin/sh"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2200" y="307216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 au ret : system("/bin/sh") s execute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2800" y="3769668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Plutôt que d'exécuter ses propres octets, on fait « retourner » le programme dans la fonction system() de la libc, avec les bons arguments posés sur la pile.</a:t>
            </a:r>
            <a:endParaRPr lang="en-US" sz="13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CONTOURNEMENT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ROP : Return-Oriented Programming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2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Généralisation de ret2libc : on enchaîne de petits fragments de code existant appelés </a:t>
            </a:r>
            <a:r>
              <a:rPr lang="en-US" sz="17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gadgets</a:t>
            </a: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6582" y="2338090"/>
            <a:ext cx="1084351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gadget = quelques instructions se terminant par ret.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alignant leurs adresses sur la pile, on compose un programme arbitraire.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Aucune nouvelle instruction injectée : NX est contourné.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CONTOURNEMENT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166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Une chaîne ROP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5975" y="1783705"/>
            <a:ext cx="5149850" cy="445770"/>
          </a:xfrm>
          <a:prstGeom prst="roundRect">
            <a:avLst>
              <a:gd name="adj" fmla="val 10684"/>
            </a:avLst>
          </a:prstGeom>
          <a:solidFill>
            <a:srgbClr val="FFFFFF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53056" tIns="102256" rIns="8581" bIns="7685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pop rdi ; ret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5975" y="2324745"/>
            <a:ext cx="5149850" cy="445770"/>
          </a:xfrm>
          <a:prstGeom prst="roundRect">
            <a:avLst>
              <a:gd name="adj" fmla="val 10684"/>
            </a:avLst>
          </a:prstGeom>
          <a:solidFill>
            <a:srgbClr val="FFFFFF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53056" tIns="102256" rIns="8581" bIns="7685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adresse de "/bin/sh"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5975" y="2865785"/>
            <a:ext cx="5149850" cy="445770"/>
          </a:xfrm>
          <a:prstGeom prst="roundRect">
            <a:avLst>
              <a:gd name="adj" fmla="val 10684"/>
            </a:avLst>
          </a:prstGeom>
          <a:solidFill>
            <a:srgbClr val="FFFFFF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53056" tIns="102256" rIns="8581" bIns="7685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 vers system()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23000" y="2280940"/>
            <a:ext cx="531088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gadget fait une micro-opération puis </a:t>
            </a: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qui déclenche le gadget suivant.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23000" y="2814340"/>
            <a:ext cx="531088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pile devient le « programme » de l'attaquant.</a:t>
            </a:r>
            <a:endParaRPr lang="en-US" sz="16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RUN-TIME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ASLR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10566400" cy="1247140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10566400" cy="1247140"/>
          </a:xfrm>
          <a:custGeom>
            <a:avLst/>
            <a:gdLst/>
            <a:ahLst/>
            <a:cxnLst/>
            <a:rect l="l" t="t" r="r" b="b"/>
            <a:pathLst>
              <a:path w="10566400" h="1247140">
                <a:moveTo>
                  <a:pt x="76200" y="1247140"/>
                </a:moveTo>
                <a:lnTo>
                  <a:pt x="76200" y="124714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17094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2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ASLR (Address Space Layout Randomization)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90"/>
            <a:ext cx="102031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Randomiser l'emplacement de la pile, du tas et des bibliothèques à chaque exécution.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28295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L'attaquant ne connaît plus les adresses à l'avance : ret2libc et ROP deviennent beaucoup plus durs.</a:t>
            </a:r>
            <a:endParaRPr lang="en-US" sz="13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CONTOURNEMENT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Déjouer l'ASLR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201" y="1832620"/>
            <a:ext cx="10843895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Fuite d'information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lire une adresse en mémoire révèle le décalage aléatoire.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Force brute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sur 32 bits, l'entropie est faible — parfois quelques milliers d'essais.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randomisation ne supprime pas la faille, elle augmente le coût de l'exploitation.</a:t>
            </a:r>
            <a:endParaRPr lang="en-US" sz="14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RUN-TIME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PIE et RELRO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Exécutable repositionnable : même le code du programme est randomisé, pas seulement les bibliothèques.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2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2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RELRO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Rendre la table des fonctions (GOT) en lecture seule après le chargement, pour bloquer son écrasement.</a:t>
            </a:r>
            <a:endParaRPr lang="en-US" sz="13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Tableau des défenses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42780"/>
          <a:ext cx="10556240" cy="2456180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Défense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Protège de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Contournement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C6E8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Stack canary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écrasement de l'adresse de retour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fuite + réécriture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C6E8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NX / DEP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exécution de shellcode injecté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ret2libc, ROP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C6E8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ASLR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adresses fixes connues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fuite d'adresse, brute force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8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C6E8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PIE / RELRO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code à adresse fixe, GOT inscriptible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fuite, autres primitives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COMPILE-TIME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Durcir le code à la source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201" y="1832620"/>
            <a:ext cx="10843895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un </a:t>
            </a: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langage de plus haut niveau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non vulnérable (au prix de vérifications à l'exécution).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et réécriture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 code dangereux — démarche du projet OpenBSD.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Remplacer les fonctions dangereuses par leurs équivalents bornés.</a:t>
            </a:r>
            <a:endParaRPr lang="en-US" sz="14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4446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961035"/>
            <a:ext cx="10883392" cy="57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Aucune défense n'est suffisante seule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2800" y="3709045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Canary, NX, ASLR, PIE, RELRO se contournent individuellement. Empilées, elles rendent l'exploitation coûteuse et peu fiable : c'est la défense en profondeur.</a:t>
            </a:r>
            <a:endParaRPr lang="en-US" sz="17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7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88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VÉRIFICATION</a:t>
            </a:r>
            <a:endParaRPr lang="en-US" sz="1088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0236"/>
            <a:ext cx="10883392" cy="337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4"/>
              </a:lnSpc>
              <a:buNone/>
            </a:pPr>
            <a:r>
              <a:rPr lang="en-US" sz="2356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Vérifier les protections d'un binaire avec readelf</a:t>
            </a:r>
            <a:endParaRPr lang="en-US" sz="2356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57985"/>
          <a:ext cx="10556240" cy="3837464"/>
        </p:xfrm>
        <a:graphic>
          <a:graphicData uri="http://schemas.openxmlformats.org/drawingml/2006/table">
            <a:tbl>
              <a:tblPr/>
              <a:tblGrid>
                <a:gridCol w="527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459">
                <a:tc>
                  <a:txBody>
                    <a:bodyPr/>
                    <a:lstStyle/>
                    <a:p>
                      <a:pPr marL="0" indent="0">
                        <a:lnSpc>
                          <a:spcPts val="2191"/>
                        </a:lnSpc>
                        <a:buNone/>
                      </a:pPr>
                      <a:r>
                        <a:rPr lang="en-US" sz="1565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Commande</a:t>
                      </a:r>
                      <a:endParaRPr lang="en-US" sz="15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91"/>
                        </a:lnSpc>
                        <a:buNone/>
                      </a:pPr>
                      <a:r>
                        <a:rPr lang="en-US" sz="1565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 que l'étudiant doit reconnaître</a:t>
                      </a:r>
                      <a:endParaRPr lang="en-US" sz="15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459">
                <a:tc>
                  <a:txBody>
                    <a:bodyPr/>
                    <a:lstStyle/>
                    <a:p>
                      <a:pPr marL="0" indent="0">
                        <a:lnSpc>
                          <a:spcPts val="2191"/>
                        </a:lnSpc>
                        <a:buNone/>
                      </a:pPr>
                      <a:r>
                        <a:rPr lang="en-US" sz="1565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readelf -lW binaire</a:t>
                      </a:r>
                      <a:endParaRPr lang="en-US" sz="15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91"/>
                        </a:lnSpc>
                        <a:buNone/>
                      </a:pPr>
                      <a:r>
                        <a:rPr lang="en-US" sz="1565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GNU_STACK : RW = NX actif ; RWE = pile exécutable.</a:t>
                      </a:r>
                      <a:endParaRPr lang="en-US" sz="15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459">
                <a:tc>
                  <a:txBody>
                    <a:bodyPr/>
                    <a:lstStyle/>
                    <a:p>
                      <a:pPr marL="0" indent="0">
                        <a:lnSpc>
                          <a:spcPts val="2191"/>
                        </a:lnSpc>
                        <a:buNone/>
                      </a:pPr>
                      <a:r>
                        <a:rPr lang="en-US" sz="1565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readelf -sW binaire</a:t>
                      </a:r>
                      <a:endParaRPr lang="en-US" sz="15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91"/>
                        </a:lnSpc>
                        <a:buNone/>
                      </a:pPr>
                      <a:r>
                        <a:rPr lang="en-US" sz="1565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__stack_chk_fail présent = canary (protection de pile).</a:t>
                      </a:r>
                      <a:endParaRPr lang="en-US" sz="15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669">
                <a:tc>
                  <a:txBody>
                    <a:bodyPr/>
                    <a:lstStyle/>
                    <a:p>
                      <a:pPr marL="0" indent="0">
                        <a:lnSpc>
                          <a:spcPts val="2191"/>
                        </a:lnSpc>
                        <a:buNone/>
                      </a:pPr>
                      <a:r>
                        <a:rPr lang="en-US" sz="1565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readelf -h binaire</a:t>
                      </a:r>
                      <a:endParaRPr lang="en-US" sz="15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91"/>
                        </a:lnSpc>
                        <a:buNone/>
                      </a:pPr>
                      <a:r>
                        <a:rPr lang="en-US" sz="1565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Type: DYN = indice d'un binaire PIE (Type: EXEC = pas de PIE).</a:t>
                      </a:r>
                      <a:endParaRPr lang="en-US" sz="15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8669">
                <a:tc>
                  <a:txBody>
                    <a:bodyPr/>
                    <a:lstStyle/>
                    <a:p>
                      <a:pPr marL="0" indent="0">
                        <a:lnSpc>
                          <a:spcPts val="2191"/>
                        </a:lnSpc>
                        <a:buNone/>
                      </a:pPr>
                      <a:r>
                        <a:rPr lang="en-US" sz="1565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readelf -lW binaire</a:t>
                      </a:r>
                      <a:endParaRPr lang="en-US" sz="15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91"/>
                        </a:lnSpc>
                        <a:buNone/>
                      </a:pPr>
                      <a:r>
                        <a:rPr lang="en-US" sz="1565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GNU_RELRO présent = segment RELRO (au moins partiel).</a:t>
                      </a:r>
                      <a:endParaRPr lang="en-US" sz="15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8748">
                <a:tc>
                  <a:txBody>
                    <a:bodyPr/>
                    <a:lstStyle/>
                    <a:p>
                      <a:pPr marL="0" indent="0">
                        <a:lnSpc>
                          <a:spcPts val="2191"/>
                        </a:lnSpc>
                        <a:buNone/>
                      </a:pPr>
                      <a:r>
                        <a:rPr lang="en-US" sz="1565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readelf -dW binaire</a:t>
                      </a:r>
                      <a:endParaRPr lang="en-US" sz="15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91"/>
                        </a:lnSpc>
                        <a:buNone/>
                      </a:pPr>
                      <a:r>
                        <a:rPr lang="en-US" sz="1565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BIND_NOW / Flags NOW : avec GNU_RELRO, indique un RELRO complet (Full RELRO).</a:t>
                      </a:r>
                      <a:endParaRPr lang="en-US" sz="15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660579"/>
            <a:ext cx="10883392" cy="41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3"/>
              </a:lnSpc>
              <a:buNone/>
            </a:pPr>
            <a:r>
              <a:rPr lang="en-US" sz="1095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: relier la théorie des protections aux observations du laboratoire — lire un résultat, pas seulement taper une commande. (L'outil checksec résume ces mêmes informations.)</a:t>
            </a:r>
            <a:endParaRPr lang="en-US" sz="1095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LABO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 de l'unité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5194300" cy="37782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5194300" cy="3778250"/>
          </a:xfrm>
          <a:custGeom>
            <a:avLst/>
            <a:gdLst/>
            <a:ahLst/>
            <a:cxnLst/>
            <a:rect l="l" t="t" r="r" b="b"/>
            <a:pathLst>
              <a:path w="51943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Réactiver les protections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Recompiler stack3 avec canary + NX + ASLR : l'exploit de l'Unité 2 échoue.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20"/>
            <a:ext cx="5194300" cy="37782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20"/>
            <a:ext cx="5194300" cy="3778250"/>
          </a:xfrm>
          <a:custGeom>
            <a:avLst/>
            <a:gdLst/>
            <a:ahLst/>
            <a:cxnLst/>
            <a:rect l="l" t="t" r="r" b="b"/>
            <a:pathLst>
              <a:path w="51943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ret2libc guidé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Reconstruire un exploit qui contourne NX en retournant dans system().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581407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 local (Docker) : il faut contrôler les options de compilation et l'ASLR — pas faisable en ligne.</a:t>
            </a:r>
            <a:endParaRPr lang="en-US" sz="13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4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À retenir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39470" y="1832620"/>
            <a:ext cx="1085062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défenses se classent en compile-time et run-time.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défense a un contournement connu (ret2libc, ROP, fuite d'adresse).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valeur des défenses est cumulative : elles augmentent le coût de l'attaque.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Comprendre les contournements, c'est l'objectif du point 4 du dossier.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382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Unité 4 — Défenses &amp; contournements</a:t>
            </a:r>
            <a:endParaRPr lang="en-US" sz="1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8232"/>
            <a:ext cx="10883392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9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551882"/>
            <a:ext cx="10883392" cy="54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Analyse de binaires &amp; sanitizers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2800" y="4249738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Trouver une faille sans le code source</a:t>
            </a:r>
            <a:endParaRPr lang="en-US" sz="18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BINAIRES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Pourquoi analyser un binaire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39470" y="1832620"/>
            <a:ext cx="1085062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n'a pas toujours le code source : logiciel propriétaire, malware, dépendance fermée.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binaire est la vérité : c'est lui qui s'exécute, pas le source.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: localiser les fonctions dangereuses, comprendre le flux, trouver la vulnérabilité.</a:t>
            </a:r>
            <a:endParaRPr lang="en-US" sz="15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BINAIRES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Statique ou dynamique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Analyse statique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Examiner le binaire sans l'exécuter : désassemblage, chaînes, imports. Sûr, exhaustif, mais abstrait.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2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2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Analyse dynamique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Observer le binaire en cours d'exécution : débogueur, traces. Concret, mais ne voit que les chemins parcourus.</a:t>
            </a:r>
            <a:endParaRPr lang="en-US" sz="13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BINAIRES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Premiers réflexes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201" y="1832620"/>
            <a:ext cx="10843895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strings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extraire les chaînes lisibles (messages, chemins, formats).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imports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quelles fonctions externes sont appelées (gets, system…).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/ infos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architecture, 32/64 bits, protections activées.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Ces trois gestes orientent déjà vers les zones à risque.</a:t>
            </a:r>
            <a:endParaRPr lang="en-US" sz="14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OUTILS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objdump : désassembler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30"/>
            <a:ext cx="10566400" cy="2102485"/>
          </a:xfrm>
          <a:prstGeom prst="roundRect">
            <a:avLst>
              <a:gd name="adj" fmla="val 4228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3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objdump -d -M intel programme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 affiche le code machine en assembleur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4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08048430 &lt;greet&gt;: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push ebp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2200" y="307216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mov ebp, esp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2200" y="333786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call strcpy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 &lt;-- fonction dangereuse reperee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2800" y="4035425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objdump transforme le code machine en assembleur lisible : on repère les appels sensibles et la structure des fonctions.</a:t>
            </a:r>
            <a:endParaRPr lang="en-US" sz="13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OUTILS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gdb / pwndbg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201" y="1832620"/>
            <a:ext cx="10843895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débogueur : poser des points d'arrêt, avancer pas à pas, inspecter registres et pile.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extensions </a:t>
            </a: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pwndbg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</a:t>
            </a: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GEF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ajoutent une vue claire de la pile, du tas et des protections.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l'outil central des labos stack0–stack3 de ce cours.</a:t>
            </a:r>
            <a:endParaRPr lang="en-US" sz="145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OUTILS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radare2 et Ghidra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5194300" cy="37782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5194300" cy="3778250"/>
          </a:xfrm>
          <a:custGeom>
            <a:avLst/>
            <a:gdLst/>
            <a:ahLst/>
            <a:cxnLst/>
            <a:rect l="l" t="t" r="r" b="b"/>
            <a:pathLst>
              <a:path w="51943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radare2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d'analyse et de débogage en ligne de commande. Puissant, courbe d'apprentissage raide.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20"/>
            <a:ext cx="5194300" cy="37782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20"/>
            <a:ext cx="5194300" cy="3778250"/>
          </a:xfrm>
          <a:custGeom>
            <a:avLst/>
            <a:gdLst/>
            <a:ahLst/>
            <a:cxnLst/>
            <a:rect l="l" t="t" r="r" b="b"/>
            <a:pathLst>
              <a:path w="51943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Ghidra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Outil de rétro-ingénierie de la NSA, gratuit : décompile le binaire en pseudo-C lisible.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581407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ce cours : gdb en priorité ; radare2 et Ghidra présentés en bonus.</a:t>
            </a:r>
            <a:endParaRPr lang="en-US" sz="13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DÉMARCHE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Analyser une « boîte noire 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32620"/>
            <a:ext cx="10866374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8440" indent="-218440" algn="l">
              <a:lnSpc>
                <a:spcPts val="2030"/>
              </a:lnSpc>
              <a:buSzPct val="100000"/>
              <a:buFontTx/>
              <a:buAutoNum type="arabicPeriod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Identifier le binaire : architecture, protections (file, checksec).</a:t>
            </a:r>
            <a:endParaRPr lang="en-US" sz="1450" dirty="0"/>
          </a:p>
          <a:p>
            <a:pPr marL="218440" indent="-218440" algn="l">
              <a:lnSpc>
                <a:spcPts val="2030"/>
              </a:lnSpc>
              <a:buSzPct val="100000"/>
              <a:buFontTx/>
              <a:buAutoNum type="arabicPeriod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Extraire chaînes et imports : où sont les entrées et les appels dangereux ?</a:t>
            </a:r>
            <a:endParaRPr lang="en-US" sz="1450" dirty="0"/>
          </a:p>
          <a:p>
            <a:pPr marL="218440" indent="-218440" algn="l">
              <a:lnSpc>
                <a:spcPts val="2030"/>
              </a:lnSpc>
              <a:buSzPct val="100000"/>
              <a:buFontTx/>
              <a:buAutoNum type="arabicPeriod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Désassembler les fonctions suspectes (objdump / radare2).</a:t>
            </a:r>
            <a:endParaRPr lang="en-US" sz="1450" dirty="0"/>
          </a:p>
          <a:p>
            <a:pPr marL="218440" indent="-218440" algn="l">
              <a:lnSpc>
                <a:spcPts val="2030"/>
              </a:lnSpc>
              <a:buSzPct val="100000"/>
              <a:buFontTx/>
              <a:buAutoNum type="arabicPeriod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Confirmer dynamiquement avec gdb : reproduire le bug.</a:t>
            </a:r>
            <a:endParaRPr lang="en-US" sz="1450" dirty="0"/>
          </a:p>
          <a:p>
            <a:pPr marL="218440" indent="-218440" algn="l">
              <a:lnSpc>
                <a:spcPts val="2030"/>
              </a:lnSpc>
              <a:buSzPct val="100000"/>
              <a:buFontTx/>
              <a:buAutoNum type="arabicPeriod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Documenter : où est la vulnérabilité, comment la déclencher.</a:t>
            </a:r>
            <a:endParaRPr lang="en-US" sz="14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SANITIZERS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AddressSanitizer (ASan)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10566400" cy="153162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10566400" cy="1531620"/>
          </a:xfrm>
          <a:custGeom>
            <a:avLst/>
            <a:gdLst/>
            <a:ahLst/>
            <a:cxnLst/>
            <a:rect l="l" t="t" r="r" b="b"/>
            <a:pathLst>
              <a:path w="10566400" h="1531620">
                <a:moveTo>
                  <a:pt x="76200" y="1531620"/>
                </a:moveTo>
                <a:lnTo>
                  <a:pt x="76200" y="15316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5542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2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AddressSanitizer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90"/>
            <a:ext cx="10203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instrument ajouté à la compilation (-fsanitize=address) qui détecte à l'exécution les erreurs mémoire : débordements, use-after-free, double-free, fuites.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56746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lieu d'un crash obscur, ASan pointe précisément la ligne et le type d'erreur.</a:t>
            </a:r>
            <a:endParaRPr lang="en-US" sz="13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SANITIZERS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UBSan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20"/>
            <a:ext cx="10566400" cy="153162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20"/>
            <a:ext cx="10566400" cy="1531620"/>
          </a:xfrm>
          <a:custGeom>
            <a:avLst/>
            <a:gdLst/>
            <a:ahLst/>
            <a:cxnLst/>
            <a:rect l="l" t="t" r="r" b="b"/>
            <a:pathLst>
              <a:path w="10566400" h="1531620">
                <a:moveTo>
                  <a:pt x="76200" y="1531620"/>
                </a:moveTo>
                <a:lnTo>
                  <a:pt x="76200" y="15316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5542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2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UndefinedBehaviorSanitizer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90"/>
            <a:ext cx="10203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Détecte les comportements indéfinis : dépassement d'entier, décalage invalide, déréférencement nul, conversions illégales.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56746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Complémentaire d'ASan : beaucoup de bugs de sécurité naissent d'un comportement indéfini.</a:t>
            </a:r>
            <a:endParaRPr lang="en-US" sz="13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SANITIZERS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Exemple de sortie ASan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30"/>
            <a:ext cx="10566400" cy="1836737"/>
          </a:xfrm>
          <a:prstGeom prst="roundRect">
            <a:avLst>
              <a:gd name="adj" fmla="val 4840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3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gcc -fsanitize=address uaf.c -o uaf &amp;&amp; ./uaf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==ERROR: AddressSanitizer: heap-use-after-free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4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 of size 8 ... freed by thread here: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#1 free uaf.c:12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2200" y="307216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#2 use uaf.c:15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2800" y="3769668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ASan donne le type d'erreur, l'adresse, et la trace : libéré ligne 12, utilisé ligne 15. Un gain de temps énorme.</a:t>
            </a:r>
            <a:endParaRPr lang="en-US" sz="13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SANITIZERS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Lire un rapport ASan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30"/>
            <a:ext cx="10566400" cy="1647825"/>
          </a:xfrm>
          <a:prstGeom prst="roundRect">
            <a:avLst>
              <a:gd name="adj" fmla="val 5395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1983730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==ERROR: AddressSanitizer: heap-buffer-overflow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92200" y="2221855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WRITE of size 36 at 0x5020...20 thread T0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2200" y="2459980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#0 in strcpy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2200" y="2698105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#1 main heap_of.c:7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2200" y="2936230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allocated by thread T0 here: (malloc de 16 octets)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2800" y="3580755"/>
            <a:ext cx="3420507" cy="2464435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1" name="Shape 9"/>
          <p:cNvSpPr/>
          <p:nvPr/>
        </p:nvSpPr>
        <p:spPr>
          <a:xfrm>
            <a:off x="812800" y="3580755"/>
            <a:ext cx="3420507" cy="2464435"/>
          </a:xfrm>
          <a:custGeom>
            <a:avLst/>
            <a:gdLst/>
            <a:ahLst/>
            <a:cxnLst/>
            <a:rect l="l" t="t" r="r" b="b"/>
            <a:pathLst>
              <a:path w="3420507" h="246443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2" name="Text 10"/>
          <p:cNvSpPr/>
          <p:nvPr/>
        </p:nvSpPr>
        <p:spPr>
          <a:xfrm>
            <a:off x="1003300" y="3811935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 &amp; taille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3300" y="4081165"/>
            <a:ext cx="3130692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heap-buffer-overflow (ou stack-...) = où déborde-t-on. WRITE of size 36 = 36 octets écrits hors-bornes.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5707" y="3580755"/>
            <a:ext cx="3420586" cy="2464435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5" name="Shape 13"/>
          <p:cNvSpPr/>
          <p:nvPr/>
        </p:nvSpPr>
        <p:spPr>
          <a:xfrm>
            <a:off x="4385707" y="3580755"/>
            <a:ext cx="3420586" cy="2464435"/>
          </a:xfrm>
          <a:custGeom>
            <a:avLst/>
            <a:gdLst/>
            <a:ahLst/>
            <a:cxnLst/>
            <a:rect l="l" t="t" r="r" b="b"/>
            <a:pathLst>
              <a:path w="3420586" h="246443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86" y="0"/>
                </a:lnTo>
                <a:arcTo wR="88900" hR="88900" stAng="16200000" swAng="5400000"/>
                <a:lnTo>
                  <a:pt x="3420586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6" name="Text 14"/>
          <p:cNvSpPr/>
          <p:nvPr/>
        </p:nvSpPr>
        <p:spPr>
          <a:xfrm>
            <a:off x="4576207" y="3811935"/>
            <a:ext cx="313077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Pile d'appels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6207" y="4081165"/>
            <a:ext cx="3130774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 = fonction interne (strcpy), #1 = VOTRE code avec le fichier et la ligne (heap_of.c:7).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8693" y="3580755"/>
            <a:ext cx="3420507" cy="2464435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9" name="Shape 17"/>
          <p:cNvSpPr/>
          <p:nvPr/>
        </p:nvSpPr>
        <p:spPr>
          <a:xfrm>
            <a:off x="7958693" y="3580755"/>
            <a:ext cx="3420507" cy="2464435"/>
          </a:xfrm>
          <a:custGeom>
            <a:avLst/>
            <a:gdLst/>
            <a:ahLst/>
            <a:cxnLst/>
            <a:rect l="l" t="t" r="r" b="b"/>
            <a:pathLst>
              <a:path w="3420507" h="246443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0" name="Text 18"/>
          <p:cNvSpPr/>
          <p:nvPr/>
        </p:nvSpPr>
        <p:spPr>
          <a:xfrm>
            <a:off x="8149193" y="3811935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Allocation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149193" y="4081165"/>
            <a:ext cx="3130692" cy="81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bloc visé faisait 16 octets : écrire 36 déborde. Pour un stack-overflow, ASan montre la variable et ses bornes [32, 96) 'msg'.</a:t>
            </a:r>
            <a:endParaRPr lang="en-US" sz="115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SANITIZERS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7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Lire un rapport UBSan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30"/>
            <a:ext cx="10566400" cy="933450"/>
          </a:xfrm>
          <a:prstGeom prst="roundRect">
            <a:avLst>
              <a:gd name="adj" fmla="val 9524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1983730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code.c:28:20: runtime error: signed integer overflow: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92200" y="2221855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25000000 * 100 cannot be represented in type 'int'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12800" y="2866430"/>
            <a:ext cx="3420507" cy="317881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8" name="Shape 6"/>
          <p:cNvSpPr/>
          <p:nvPr/>
        </p:nvSpPr>
        <p:spPr>
          <a:xfrm>
            <a:off x="812800" y="2866430"/>
            <a:ext cx="3420507" cy="3178810"/>
          </a:xfrm>
          <a:custGeom>
            <a:avLst/>
            <a:gdLst/>
            <a:ahLst/>
            <a:cxnLst/>
            <a:rect l="l" t="t" r="r" b="b"/>
            <a:pathLst>
              <a:path w="3420507" h="31788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Text 7"/>
          <p:cNvSpPr/>
          <p:nvPr/>
        </p:nvSpPr>
        <p:spPr>
          <a:xfrm>
            <a:off x="1003300" y="3097510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Localisation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3300" y="3366790"/>
            <a:ext cx="3130692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fichier:ligne:colonne (code.c:28:20) pointe exactement l'opération fautive.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5707" y="2866430"/>
            <a:ext cx="3420586" cy="317881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2" name="Shape 10"/>
          <p:cNvSpPr/>
          <p:nvPr/>
        </p:nvSpPr>
        <p:spPr>
          <a:xfrm>
            <a:off x="4385707" y="2866430"/>
            <a:ext cx="3420586" cy="3178810"/>
          </a:xfrm>
          <a:custGeom>
            <a:avLst/>
            <a:gdLst/>
            <a:ahLst/>
            <a:cxnLst/>
            <a:rect l="l" t="t" r="r" b="b"/>
            <a:pathLst>
              <a:path w="3420586" h="31788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86" y="0"/>
                </a:lnTo>
                <a:arcTo wR="88900" hR="88900" stAng="16200000" swAng="5400000"/>
                <a:lnTo>
                  <a:pt x="3420586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Text 11"/>
          <p:cNvSpPr/>
          <p:nvPr/>
        </p:nvSpPr>
        <p:spPr>
          <a:xfrm>
            <a:off x="4576207" y="3097510"/>
            <a:ext cx="313077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Nature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6207" y="3366790"/>
            <a:ext cx="3130774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signed integer overflow : le résultat dépasse ce que le type peut représenter.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8693" y="2866430"/>
            <a:ext cx="3420507" cy="317881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6" name="Shape 14"/>
          <p:cNvSpPr/>
          <p:nvPr/>
        </p:nvSpPr>
        <p:spPr>
          <a:xfrm>
            <a:off x="7958693" y="2866430"/>
            <a:ext cx="3420507" cy="3178810"/>
          </a:xfrm>
          <a:custGeom>
            <a:avLst/>
            <a:gdLst/>
            <a:ahLst/>
            <a:cxnLst/>
            <a:rect l="l" t="t" r="r" b="b"/>
            <a:pathLst>
              <a:path w="3420507" h="317881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7" name="Text 15"/>
          <p:cNvSpPr/>
          <p:nvPr/>
        </p:nvSpPr>
        <p:spPr>
          <a:xfrm>
            <a:off x="8149193" y="3097510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Conséquence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49193" y="3366790"/>
            <a:ext cx="3130692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calcul faux ici sert souvent à dimensionner un tampon : d'où une faille mémoire (slide suivante).</a:t>
            </a:r>
            <a:endParaRPr lang="en-US" sz="115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AUDIT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Fonctions C dangereuses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3420507" cy="364998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755180"/>
            <a:ext cx="3420507" cy="3649980"/>
          </a:xfrm>
          <a:custGeom>
            <a:avLst/>
            <a:gdLst/>
            <a:ahLst/>
            <a:cxnLst/>
            <a:rect l="l" t="t" r="r" b="b"/>
            <a:pathLst>
              <a:path w="3420507" h="364998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03300" y="1986260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strcpy / strcat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3300" y="2255540"/>
            <a:ext cx="3130692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Copient jusqu'au \0 sans connaître la taille de destination : si la source est plus longue, on écrit au-delà du tampon.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5707" y="1755180"/>
            <a:ext cx="3420586" cy="364998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85707" y="1755180"/>
            <a:ext cx="3420586" cy="3649980"/>
          </a:xfrm>
          <a:custGeom>
            <a:avLst/>
            <a:gdLst/>
            <a:ahLst/>
            <a:cxnLst/>
            <a:rect l="l" t="t" r="r" b="b"/>
            <a:pathLst>
              <a:path w="3420586" h="364998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86" y="0"/>
                </a:lnTo>
                <a:arcTo wR="88900" hR="88900" stAng="16200000" swAng="5400000"/>
                <a:lnTo>
                  <a:pt x="3420586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576207" y="1986260"/>
            <a:ext cx="313077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sprintf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6207" y="2255540"/>
            <a:ext cx="3130774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Écrit un texte formaté sans borne : un argument long déborde le tampon de sortie.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8693" y="1755180"/>
            <a:ext cx="3420507" cy="364998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58693" y="1755180"/>
            <a:ext cx="3420507" cy="3649980"/>
          </a:xfrm>
          <a:custGeom>
            <a:avLst/>
            <a:gdLst/>
            <a:ahLst/>
            <a:cxnLst/>
            <a:rect l="l" t="t" r="r" b="b"/>
            <a:pathLst>
              <a:path w="3420507" h="364998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149193" y="1986260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Calculs de taille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49193" y="2255540"/>
            <a:ext cx="3130692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malloc(n * taille) sans vérifier n : un produit erroné alloue trop peu, puis l'écriture déborde.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2800" y="558294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tampon a une taille fixe. Écrire au-delà corrompt la pile (variables voisines, adresse de retour) ou le tas (objet voisin, métadonnées de l'allocateur) — base des Unités 2 et 3.</a:t>
            </a:r>
            <a:endParaRPr lang="en-US" sz="13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AUDIT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Dépassements d'entiers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10566400" cy="1885950"/>
          </a:xfrm>
          <a:prstGeom prst="roundRect">
            <a:avLst>
              <a:gd name="adj" fmla="val 4714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1983780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 n = atoi(argv[2]);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92200" y="2221905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n fourni par l'attaquant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2200" y="2460030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 taille = n * 100;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2200" y="2698155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deborde -&gt; valeur fausse (petite ou negative)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2200" y="2936280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char *buf = malloc(taille);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92200" y="3174405"/>
            <a:ext cx="1030782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tampon trop petit -&gt; ecriture hors-bornes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2800" y="381893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entier signé qui déborde ne lève pas d'erreur : il "repart" silencieusement. Utilisé pour dimensionner une allocation, il produit un tampon trop petit, puis un débordement de tas. Chaîne typique : CWE-190 (entier) → CWE-122 (tas). UBSan le détecte à la source.</a:t>
            </a:r>
            <a:endParaRPr lang="en-US" sz="13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AUDIT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Méthodologie d'audit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3437414" cy="2081530"/>
          </a:xfrm>
          <a:prstGeom prst="roundRect">
            <a:avLst>
              <a:gd name="adj" fmla="val 36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755180"/>
            <a:ext cx="3437414" cy="2081530"/>
          </a:xfrm>
          <a:custGeom>
            <a:avLst/>
            <a:gdLst/>
            <a:ahLst/>
            <a:cxnLst/>
            <a:rect l="l" t="t" r="r" b="b"/>
            <a:pathLst>
              <a:path w="3437414" h="208153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61214" y="0"/>
                </a:lnTo>
                <a:arcTo wR="76200" hR="76200" stAng="16200000" swAng="5400000"/>
                <a:lnTo>
                  <a:pt x="3437414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977900" y="1948160"/>
            <a:ext cx="320043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Entrée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77900" y="2161580"/>
            <a:ext cx="3200430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Repérer les entrées contrôlées par l'utilisateur (arguments, fichiers, réseau).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7214" y="1755180"/>
            <a:ext cx="3437493" cy="2081530"/>
          </a:xfrm>
          <a:prstGeom prst="roundRect">
            <a:avLst>
              <a:gd name="adj" fmla="val 36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77214" y="1755180"/>
            <a:ext cx="3437493" cy="2081530"/>
          </a:xfrm>
          <a:custGeom>
            <a:avLst/>
            <a:gdLst/>
            <a:ahLst/>
            <a:cxnLst/>
            <a:rect l="l" t="t" r="r" b="b"/>
            <a:pathLst>
              <a:path w="3437493" h="208153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61293" y="0"/>
                </a:lnTo>
                <a:arcTo wR="76200" hR="76200" stAng="16200000" swAng="5400000"/>
                <a:lnTo>
                  <a:pt x="3437493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542314" y="1948160"/>
            <a:ext cx="3200512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Opération dangereuse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42314" y="2161580"/>
            <a:ext cx="3200512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Suivre l'entrée jusqu'à strcpy, sprintf, un calcul de taille, un execute...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41707" y="1755180"/>
            <a:ext cx="3437493" cy="2081530"/>
          </a:xfrm>
          <a:prstGeom prst="roundRect">
            <a:avLst>
              <a:gd name="adj" fmla="val 36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41707" y="1755180"/>
            <a:ext cx="3437493" cy="2081530"/>
          </a:xfrm>
          <a:custGeom>
            <a:avLst/>
            <a:gdLst/>
            <a:ahLst/>
            <a:cxnLst/>
            <a:rect l="l" t="t" r="r" b="b"/>
            <a:pathLst>
              <a:path w="3437493" h="208153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61293" y="0"/>
                </a:lnTo>
                <a:arcTo wR="76200" hR="76200" stAng="16200000" swAng="5400000"/>
                <a:lnTo>
                  <a:pt x="3437493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106807" y="1948160"/>
            <a:ext cx="3200512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Hypothèse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06807" y="2161580"/>
            <a:ext cx="3200512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Formuler : quelle entrée casse quoi ? (ex. un nom de 100 octets).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2800" y="3963690"/>
            <a:ext cx="3437414" cy="2081530"/>
          </a:xfrm>
          <a:prstGeom prst="roundRect">
            <a:avLst>
              <a:gd name="adj" fmla="val 36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7" name="Shape 15"/>
          <p:cNvSpPr/>
          <p:nvPr/>
        </p:nvSpPr>
        <p:spPr>
          <a:xfrm>
            <a:off x="812800" y="3963690"/>
            <a:ext cx="3437414" cy="2081530"/>
          </a:xfrm>
          <a:custGeom>
            <a:avLst/>
            <a:gdLst/>
            <a:ahLst/>
            <a:cxnLst/>
            <a:rect l="l" t="t" r="r" b="b"/>
            <a:pathLst>
              <a:path w="3437414" h="208153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61214" y="0"/>
                </a:lnTo>
                <a:arcTo wR="76200" hR="76200" stAng="16200000" swAng="5400000"/>
                <a:lnTo>
                  <a:pt x="3437414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8" name="Text 16"/>
          <p:cNvSpPr/>
          <p:nvPr/>
        </p:nvSpPr>
        <p:spPr>
          <a:xfrm>
            <a:off x="977900" y="4156770"/>
            <a:ext cx="320043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 Test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77900" y="4370090"/>
            <a:ext cx="3200430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Construire l'entrée limite ; compiler avec ASan/UBSan ; ou fuzzer (U11).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77214" y="3963690"/>
            <a:ext cx="3437493" cy="2081530"/>
          </a:xfrm>
          <a:prstGeom prst="roundRect">
            <a:avLst>
              <a:gd name="adj" fmla="val 36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1" name="Shape 19"/>
          <p:cNvSpPr/>
          <p:nvPr/>
        </p:nvSpPr>
        <p:spPr>
          <a:xfrm>
            <a:off x="4377214" y="3963690"/>
            <a:ext cx="3437493" cy="2081530"/>
          </a:xfrm>
          <a:custGeom>
            <a:avLst/>
            <a:gdLst/>
            <a:ahLst/>
            <a:cxnLst/>
            <a:rect l="l" t="t" r="r" b="b"/>
            <a:pathLst>
              <a:path w="3437493" h="208153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61293" y="0"/>
                </a:lnTo>
                <a:arcTo wR="76200" hR="76200" stAng="16200000" swAng="5400000"/>
                <a:lnTo>
                  <a:pt x="3437493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2" name="Text 20"/>
          <p:cNvSpPr/>
          <p:nvPr/>
        </p:nvSpPr>
        <p:spPr>
          <a:xfrm>
            <a:off x="4542314" y="4156770"/>
            <a:ext cx="3200512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5. Diagnostic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42314" y="4370090"/>
            <a:ext cx="3200512" cy="198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Lire le rapport : type, taille, ligne, allocation.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41707" y="3963690"/>
            <a:ext cx="3437493" cy="2081530"/>
          </a:xfrm>
          <a:prstGeom prst="roundRect">
            <a:avLst>
              <a:gd name="adj" fmla="val 36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5" name="Shape 23"/>
          <p:cNvSpPr/>
          <p:nvPr/>
        </p:nvSpPr>
        <p:spPr>
          <a:xfrm>
            <a:off x="7941707" y="3963690"/>
            <a:ext cx="3437493" cy="2081530"/>
          </a:xfrm>
          <a:custGeom>
            <a:avLst/>
            <a:gdLst/>
            <a:ahLst/>
            <a:cxnLst/>
            <a:rect l="l" t="t" r="r" b="b"/>
            <a:pathLst>
              <a:path w="3437493" h="208153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61293" y="0"/>
                </a:lnTo>
                <a:arcTo wR="76200" hR="76200" stAng="16200000" swAng="5400000"/>
                <a:lnTo>
                  <a:pt x="3437493" y="76200"/>
                </a:lnTo>
                <a:arcTo wR="76200" hR="31750" stAng="0" swAng="-5400000"/>
                <a:lnTo>
                  <a:pt x="76200" y="44450"/>
                </a:lnTo>
                <a:arcTo wR="76200" hR="317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6" name="Text 24"/>
          <p:cNvSpPr/>
          <p:nvPr/>
        </p:nvSpPr>
        <p:spPr>
          <a:xfrm>
            <a:off x="8106807" y="4156770"/>
            <a:ext cx="3200512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6. Correctif + vérif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06807" y="4370090"/>
            <a:ext cx="3200512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Borner / valider, puis re-tester : le rapport doit disparaître.</a:t>
            </a:r>
            <a:endParaRPr lang="en-US" sz="105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AUDIT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CWE &amp; remédiations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3420507" cy="364998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755180"/>
            <a:ext cx="3420507" cy="3649980"/>
          </a:xfrm>
          <a:custGeom>
            <a:avLst/>
            <a:gdLst/>
            <a:ahLst/>
            <a:cxnLst/>
            <a:rect l="l" t="t" r="r" b="b"/>
            <a:pathLst>
              <a:path w="3420507" h="364998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03300" y="1986260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CWE-121 — pile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3300" y="2255540"/>
            <a:ext cx="3130692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Débordement de tampon sur la pile. Correctif : copie bornée (strncpy/snprintf), + canary/NX/ASLR (U4).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5707" y="1755180"/>
            <a:ext cx="3420586" cy="364998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85707" y="1755180"/>
            <a:ext cx="3420586" cy="3649980"/>
          </a:xfrm>
          <a:custGeom>
            <a:avLst/>
            <a:gdLst/>
            <a:ahLst/>
            <a:cxnLst/>
            <a:rect l="l" t="t" r="r" b="b"/>
            <a:pathLst>
              <a:path w="3420586" h="364998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86" y="0"/>
                </a:lnTo>
                <a:arcTo wR="88900" hR="88900" stAng="16200000" swAng="5400000"/>
                <a:lnTo>
                  <a:pt x="3420586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576207" y="1986260"/>
            <a:ext cx="313077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CWE-122 — tas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6207" y="2255540"/>
            <a:ext cx="3130774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Débordement de tampon sur le tas. Correctif : contrôle des bornes, allocation de taille suffisante et vérifiée.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8693" y="1755180"/>
            <a:ext cx="3420507" cy="364998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58693" y="1755180"/>
            <a:ext cx="3420507" cy="3649980"/>
          </a:xfrm>
          <a:custGeom>
            <a:avLst/>
            <a:gdLst/>
            <a:ahLst/>
            <a:cxnLst/>
            <a:rect l="l" t="t" r="r" b="b"/>
            <a:pathLst>
              <a:path w="3420507" h="364998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149193" y="1986260"/>
            <a:ext cx="31306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CWE-190 — entier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49193" y="2255540"/>
            <a:ext cx="3130692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Dépassement d'entier. Correctif : vérifier les calculs de taille, types adaptés, __builtin_mul_overflow.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2800" y="558294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CWE nomme le TYPE de faiblesse : il relie un diagnostic concret à une stratégie de correction connue, et prépare le scoring de gravité (CVSS, Unité 10).</a:t>
            </a:r>
            <a:endParaRPr lang="en-US" sz="13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SANITIZERS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Limites des sanitizers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201" y="1832670"/>
            <a:ext cx="10843895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Ils ne voient que le code </a:t>
            </a: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effectivement exécuté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il faut de bons cas de test (d'où le fuzzing, Unité 11).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Surcoût en temps et mémoire : outils de développement et de test, pas de production.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remplacent pas l'analyse statique ni la revue de code.</a:t>
            </a:r>
            <a:endParaRPr lang="en-US" sz="145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AUDIT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Limites des outils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5207000" cy="3881120"/>
          </a:xfrm>
          <a:prstGeom prst="roundRect">
            <a:avLst>
              <a:gd name="adj" fmla="val 2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755180"/>
            <a:ext cx="5207000" cy="3881120"/>
          </a:xfrm>
          <a:custGeom>
            <a:avLst/>
            <a:gdLst/>
            <a:ahLst/>
            <a:cxnLst/>
            <a:rect l="l" t="t" r="r" b="b"/>
            <a:pathLst>
              <a:path w="5207000" h="388112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18100" y="0"/>
                </a:lnTo>
                <a:arcTo wR="88900" hR="88900" stAng="16200000" swAng="5400000"/>
                <a:lnTo>
                  <a:pt x="52070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28700" y="2011660"/>
            <a:ext cx="4918456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Absence de rapport ≠ sûr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28700" y="2293640"/>
            <a:ext cx="4918456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ASan/UBSan ne voient que le code réellement exécuté sur VOS entrées. Un chemin non testé peut cacher un bug : pas d'alerte ne prouve rien — d'où le fuzzing (U11).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755180"/>
            <a:ext cx="5207000" cy="3881120"/>
          </a:xfrm>
          <a:prstGeom prst="roundRect">
            <a:avLst>
              <a:gd name="adj" fmla="val 2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72200" y="1755180"/>
            <a:ext cx="5207000" cy="3881120"/>
          </a:xfrm>
          <a:custGeom>
            <a:avLst/>
            <a:gdLst/>
            <a:ahLst/>
            <a:cxnLst/>
            <a:rect l="l" t="t" r="r" b="b"/>
            <a:pathLst>
              <a:path w="5207000" h="388112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18100" y="0"/>
                </a:lnTo>
                <a:arcTo wR="88900" hR="88900" stAng="16200000" swAng="5400000"/>
                <a:lnTo>
                  <a:pt x="52070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388100" y="2011660"/>
            <a:ext cx="4918456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Fonction dangereuse ≠ exploitable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88100" y="2293640"/>
            <a:ext cx="4918456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strcpy repéré statiquement n'est une vraie faille que si l'entrée est contrôlée par l'attaquant ET dépasse le tampon. Il faut le confirmer, pas seulement le signaler.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2800" y="581412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Conclure un audit = confirmer dynamiquement (test, sanitizer, fuzzing), jamais se contenter de lister des motifs.</a:t>
            </a:r>
            <a:endParaRPr lang="en-US" sz="13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LABO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 de l'unité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Boîte noire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Analyser un binaire fourni sans source : trouver et déclencher la vulnérabilité.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7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7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Sanitizers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Recompiler du code vulnérable avec ASan/UBSan et lire les rapports.</a:t>
            </a:r>
            <a:endParaRPr lang="en-US" sz="13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5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À retenir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39470" y="1832670"/>
            <a:ext cx="1085062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peut trouver une faille sans le source : c'est l'analyse de binaires.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Statique (objdump, Ghidra) et dynamique (gdb) se complètent.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ASan et UBSan transforment un crash obscur en diagnostic précis.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Leur limite : ils ne voient que ce qui s'exécute.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Unité 5 — Analyse de binaires &amp; sanitizers</a:t>
            </a:r>
            <a:endParaRPr lang="en-US" sz="12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8282"/>
            <a:ext cx="10883392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9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551932"/>
            <a:ext cx="10883392" cy="54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Langages memory-safe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2800" y="4249738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 : mettre la sûreté dans le système de types</a:t>
            </a:r>
            <a:endParaRPr lang="en-US" sz="18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6 · RUST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question profonde, encore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Rappel : presque tous les bugs mémoire se résument à « qui a le droit de lire ou d'écrire cet emplacement, et quand ? 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2800" y="2640310"/>
            <a:ext cx="5194300" cy="340487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Shape 4"/>
          <p:cNvSpPr/>
          <p:nvPr/>
        </p:nvSpPr>
        <p:spPr>
          <a:xfrm>
            <a:off x="812800" y="2640310"/>
            <a:ext cx="5194300" cy="3404870"/>
          </a:xfrm>
          <a:custGeom>
            <a:avLst/>
            <a:gdLst/>
            <a:ahLst/>
            <a:cxnLst/>
            <a:rect l="l" t="t" r="r" b="b"/>
            <a:pathLst>
              <a:path w="5194300" h="340487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7" name="Text 5"/>
          <p:cNvSpPr/>
          <p:nvPr/>
        </p:nvSpPr>
        <p:spPr>
          <a:xfrm>
            <a:off x="1041400" y="290959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 / C++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400" y="3214390"/>
            <a:ext cx="4879213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Laisse la réponse dans la tête du programmeur.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4900" y="2640310"/>
            <a:ext cx="5194300" cy="340487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Shape 8"/>
          <p:cNvSpPr/>
          <p:nvPr/>
        </p:nvSpPr>
        <p:spPr>
          <a:xfrm>
            <a:off x="6184900" y="2640310"/>
            <a:ext cx="5194300" cy="3404870"/>
          </a:xfrm>
          <a:custGeom>
            <a:avLst/>
            <a:gdLst/>
            <a:ahLst/>
            <a:cxnLst/>
            <a:rect l="l" t="t" r="r" b="b"/>
            <a:pathLst>
              <a:path w="5194300" h="340487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1" name="Text 9"/>
          <p:cNvSpPr/>
          <p:nvPr/>
        </p:nvSpPr>
        <p:spPr>
          <a:xfrm>
            <a:off x="6413500" y="290959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13500" y="321439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 la réponse dans le système de types, vérifiée à la compilation.</a:t>
            </a:r>
            <a:endParaRPr lang="en-US" sz="13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6 · RUST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pari de Rust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Garder le modèle de performance de C/C++ (pas de ramasse-miettes, allocations prévisibles) tout en ajoutant une discipline d'aliasing et de durée de vie vérifiée à la compilation.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640310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les classes de bugs vues en Unités 2–3 (pointeur fantôme, double-free, invalidation d'itérateur, data race) sont rejetées </a:t>
            </a:r>
            <a:r>
              <a:rPr lang="en-US" sz="1400" i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 construction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6 · RUST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Trois idées, vérifiées statiquement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Ownership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valeur a exactement un propriétaire.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3267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94200" y="183267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6228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Borrowing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28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références temporaires suivent des règles d'aliasing strictes.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3267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75600" y="183267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2042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Lifetimes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42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compilateur suit combien de temps chaque référence peut vivre.</a:t>
            </a:r>
            <a:endParaRPr lang="en-US" sz="13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6 · OWNERSHIP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déplacement (move)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10566400" cy="1305243"/>
          </a:xfrm>
          <a:prstGeom prst="roundRect">
            <a:avLst>
              <a:gd name="adj" fmla="val 6811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8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let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s1 = String::from("hello");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let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s2 = s1;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la propriete passe de s1 a s2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9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println!("{}", s1);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erreur de compilation : s1 n est plus valide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2800" y="3238202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l'affectation, la propriété se déplace. L'ancien lien est invalidé à la compilation : pas de double libération, pas de fuite.</a:t>
            </a:r>
            <a:endParaRPr lang="en-US" sz="13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6 · BORROWING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règle d'aliasing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566400" cy="810260"/>
          </a:xfrm>
          <a:prstGeom prst="roundRect">
            <a:avLst>
              <a:gd name="adj" fmla="val 9404"/>
            </a:avLst>
          </a:prstGeom>
          <a:solidFill>
            <a:srgbClr val="FFFFFF"/>
          </a:solidFill>
          <a:ln/>
        </p:spPr>
        <p:txBody>
          <a:bodyPr wrap="square" lIns="244382" tIns="142782" rIns="0" bIns="1173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tout point du programme, chaque emplacement a </a:t>
            </a:r>
            <a:r>
              <a:rPr lang="en-US" sz="13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soit</a:t>
            </a: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une seule référence mutable (&amp;mut T), </a:t>
            </a:r>
            <a:r>
              <a:rPr lang="en-US" sz="13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soit</a:t>
            </a: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 nombre quelconque de références partagées (&amp;T) — jamais les deux.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10566400" cy="810260"/>
          </a:xfrm>
          <a:custGeom>
            <a:avLst/>
            <a:gdLst/>
            <a:ahLst/>
            <a:cxnLst/>
            <a:rect l="l" t="t" r="r" b="b"/>
            <a:pathLst>
              <a:path w="10566400" h="810260">
                <a:moveTo>
                  <a:pt x="76200" y="810260"/>
                </a:moveTo>
                <a:lnTo>
                  <a:pt x="76200" y="8102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73406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812800" y="284609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écriture exclut toute autre vue simultanée. C'est exactement ce qui évite les data races et les écritures concurrentes.</a:t>
            </a:r>
            <a:endParaRPr lang="en-US" sz="14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6 · BORROWING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 pratique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10566400" cy="1570990"/>
          </a:xfrm>
          <a:prstGeom prst="roundRect">
            <a:avLst>
              <a:gd name="adj" fmla="val 5659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8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let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mut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 = String::from("hi");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let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r1 = &amp;s;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emprunt partage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9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let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r2 = &amp;s;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autre emprunt partage -- OK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let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r3 = &amp;</a:t>
            </a: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mut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ERREUR : pas d emprunt mutable en plus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2800" y="350391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Plusieurs lecteurs, ou un seul écrivain, jamais les deux à la fois.</a:t>
            </a:r>
            <a:endParaRPr lang="en-US" sz="13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6 · BORROWING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Pourquoi la règle suffit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42830"/>
          <a:ext cx="10556240" cy="2171700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Motif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 C/C++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 Rust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lecture + lecture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OK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OK (plusieurs &amp;T)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écriture seule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OK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OK (un &amp;mut T)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écriture + lecture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race / indéfini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rejeté à la compilation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écriture + écriture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race / indéfini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rejeté à la compilation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6 · LIFETIMES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Durées de vie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10566400" cy="2102485"/>
          </a:xfrm>
          <a:prstGeom prst="roundRect">
            <a:avLst>
              <a:gd name="adj" fmla="val 4228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8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let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r;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9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let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 = String::from("hi");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 = &amp;s;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r liee a la duree de vie de 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2200" y="307211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2200" y="3337917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println!("{}", r);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ERREUR : s a ete liberee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2800" y="4035425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compilateur refuse toute utilisation d'une référence après la disparition de ce qu'elle désigne : le use-after-free devient une erreur de type.</a:t>
            </a:r>
            <a:endParaRPr lang="en-US" sz="13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6 · RUST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Invalidation d'itérateur, résorbée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10566400" cy="1570990"/>
          </a:xfrm>
          <a:prstGeom prst="roundRect">
            <a:avLst>
              <a:gd name="adj" fmla="val 5659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8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let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mut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v = vec![1, 2, 3, 4];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let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first = &amp;v[0];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emprunt partage de v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9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v.push(5);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veut &amp;mut v -- ERREUR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println!("{}", first);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2800" y="350391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exige un emprunt mutable, mais first est encore un emprunt partagé : les deux ne peuvent coexister. Le bug C++ de l'Unité 3 disparaît.</a:t>
            </a:r>
            <a:endParaRPr lang="en-US" sz="13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6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91320"/>
            <a:ext cx="10883392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6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la vulnérabilité C au refus de compilation Rust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800" y="1703090"/>
            <a:ext cx="3429000" cy="394589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703090"/>
            <a:ext cx="3429000" cy="3945890"/>
          </a:xfrm>
          <a:custGeom>
            <a:avLst/>
            <a:gdLst/>
            <a:ahLst/>
            <a:cxnLst/>
            <a:rect l="l" t="t" r="r" b="b"/>
            <a:pathLst>
              <a:path w="3429000" h="39458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40100" y="0"/>
                </a:lnTo>
                <a:arcTo wR="88900" hR="88900" stAng="16200000" swAng="5400000"/>
                <a:lnTo>
                  <a:pt x="34290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03300" y="193427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Use-after-free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3300" y="220851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C6E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Déplacement de propriété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3300" y="2482850"/>
            <a:ext cx="3139440" cy="565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Après un déplacement, l'ancien nom devient invalide : impossible d'utiliser un objet déjà « libéré ».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3300" y="3099098"/>
            <a:ext cx="3139440" cy="182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5B667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rustc : E0382 — borrow of moved value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1500" y="1703090"/>
            <a:ext cx="3429000" cy="394589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1" name="Shape 9"/>
          <p:cNvSpPr/>
          <p:nvPr/>
        </p:nvSpPr>
        <p:spPr>
          <a:xfrm>
            <a:off x="4381500" y="1703090"/>
            <a:ext cx="3429000" cy="3945890"/>
          </a:xfrm>
          <a:custGeom>
            <a:avLst/>
            <a:gdLst/>
            <a:ahLst/>
            <a:cxnLst/>
            <a:rect l="l" t="t" r="r" b="b"/>
            <a:pathLst>
              <a:path w="3429000" h="39458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40100" y="0"/>
                </a:lnTo>
                <a:arcTo wR="88900" hR="88900" stAng="16200000" swAng="5400000"/>
                <a:lnTo>
                  <a:pt x="34290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2" name="Text 10"/>
          <p:cNvSpPr/>
          <p:nvPr/>
        </p:nvSpPr>
        <p:spPr>
          <a:xfrm>
            <a:off x="4572000" y="193427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Invalidation de référence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20851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C6E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Règles d'emprunt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482850"/>
            <a:ext cx="3139440" cy="565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emprunt mutable exclut tout autre emprunt : modifier un conteneur pendant qu'on le parcourt ne compile pas.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0" y="3099098"/>
            <a:ext cx="3139440" cy="182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5B667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rustc : E0502 — cannot borrow as mutable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50200" y="1703090"/>
            <a:ext cx="3429000" cy="394589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7" name="Shape 15"/>
          <p:cNvSpPr/>
          <p:nvPr/>
        </p:nvSpPr>
        <p:spPr>
          <a:xfrm>
            <a:off x="7950200" y="1703090"/>
            <a:ext cx="3429000" cy="3945890"/>
          </a:xfrm>
          <a:custGeom>
            <a:avLst/>
            <a:gdLst/>
            <a:ahLst/>
            <a:cxnLst/>
            <a:rect l="l" t="t" r="r" b="b"/>
            <a:pathLst>
              <a:path w="3429000" h="39458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40100" y="0"/>
                </a:lnTo>
                <a:arcTo wR="88900" hR="88900" stAng="16200000" swAng="5400000"/>
                <a:lnTo>
                  <a:pt x="34290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8" name="Text 16"/>
          <p:cNvSpPr/>
          <p:nvPr/>
        </p:nvSpPr>
        <p:spPr>
          <a:xfrm>
            <a:off x="8140700" y="193427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Dangling reference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40700" y="2208510"/>
            <a:ext cx="31394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C6E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Durée de vie insuffisante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40700" y="2482850"/>
            <a:ext cx="3139440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référence ne peut pas survivre à la valeur qu'elle désigne : le vérificateur la refuse.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40700" y="2919115"/>
            <a:ext cx="3238500" cy="182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5B667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rustc : E0597 — does not live long enough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12800" y="581412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bugs mémoire des Unités 2 et 3 ne sont pas corrigés à la main : en Rust sûr, ils ne compilent tout simplement pas.</a:t>
            </a:r>
            <a:endParaRPr lang="en-US" sz="13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6 · RUST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Modèle de coût : C/C++ vs Rust sûr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42830"/>
          <a:ext cx="10556240" cy="2606040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C/C++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Rust sûr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use-after-free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indéfini silencieux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erreur de compilation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double-free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indéfini silencieux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erreur de compilation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hors bornes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indéfini silencieux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panique (vérif. à l'exécution)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race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indéfini silencieux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erreur de compilation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ramasse-miettes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aucun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aucun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6 · RUST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L'échappatoire : unsafe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Certaines opérations (FFI, allocateurs, structures lock-free) ne s'expriment pas dans le vérificateur d'emprunt. Rust ne les interdit pas : il les </a:t>
            </a:r>
            <a:r>
              <a:rPr lang="en-US" sz="17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isole</a:t>
            </a: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dans des blocs unsafe.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53313" y="2640310"/>
            <a:ext cx="10836783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687" indent="-162687" algn="l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blocs unsafe sont visibles : ils délimitent le noyau de confiance.</a:t>
            </a:r>
            <a:endParaRPr lang="en-US" sz="1350" dirty="0"/>
          </a:p>
          <a:p>
            <a:pPr marL="162687" indent="-162687" algn="l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bibliothèque enveloppe unsafe dans une API sûre (Vec, Mutex…).</a:t>
            </a:r>
            <a:endParaRPr lang="en-US" sz="1350" dirty="0"/>
          </a:p>
          <a:p>
            <a:pPr marL="162687" indent="-162687" algn="l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L'audit se concentre sur la petite surface unsafe, pas tout le code.</a:t>
            </a:r>
            <a:endParaRPr lang="en-US" sz="135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6 · RUST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 que Rust ne résout pas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582" y="1832670"/>
            <a:ext cx="10843514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failles de </a:t>
            </a: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logique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les mauvais contrôles d'accès.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</a:t>
            </a: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injections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(SQL, commande, XSS) — c'est tout l'objet de la Partie 2.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bugs dans le code unsafe mal écrit.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 élimine une </a:t>
            </a:r>
            <a:r>
              <a:rPr lang="en-US" sz="1400" i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famille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bugs, pas la sécurité dans son ensemble.</a:t>
            </a:r>
            <a:endParaRPr lang="en-US" sz="14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6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À retenir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39470" y="1832670"/>
            <a:ext cx="1085062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 garde la performance de C sans ramasse-miettes.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Ownership, borrowing et lifetimes éliminent les bugs mémoire à la compilation.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unsafe isole le peu de code qui doit sortir des règles.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Rust ne couvre pas les injections ni les failles de logique.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Unité 6 — Langages memory-safe (Rust) — fin de la Partie 1</a:t>
            </a:r>
            <a:endParaRPr lang="en-US" sz="12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8282"/>
            <a:ext cx="10883392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9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551932"/>
            <a:ext cx="10883392" cy="54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Attaques par injection &amp; SQLi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2800" y="4249738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une donnée devient du code</a:t>
            </a:r>
            <a:endParaRPr lang="en-US" sz="18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7 · INJECTION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Définition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10566400" cy="181610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10566400" cy="1816100"/>
          </a:xfrm>
          <a:custGeom>
            <a:avLst/>
            <a:gdLst/>
            <a:ahLst/>
            <a:cxnLst/>
            <a:rect l="l" t="t" r="r" b="b"/>
            <a:pathLst>
              <a:path w="10566400" h="1816100">
                <a:moveTo>
                  <a:pt x="76200" y="1816100"/>
                </a:moveTo>
                <a:lnTo>
                  <a:pt x="76200" y="18161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73990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7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Injection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90"/>
            <a:ext cx="1020318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vulnérabilité où une entrée non fiable est concaténée dans un texte de programme (SQL, shell, HTML, un chemin) ensuite interprété — de sorte qu'une partie de l'entrée est traitée comme des instructions plutôt que comme des données.</a:t>
            </a:r>
            <a:endParaRPr lang="en-US" sz="16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7 · INJECTION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548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Toujours le même motif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5975" y="1971377"/>
            <a:ext cx="3188018" cy="734695"/>
          </a:xfrm>
          <a:prstGeom prst="roundRect">
            <a:avLst>
              <a:gd name="adj" fmla="val 9939"/>
            </a:avLst>
          </a:prstGeom>
          <a:solidFill>
            <a:srgbClr val="F0CFCD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89726" tIns="234517" rIns="89726" bIns="209117" rtlCol="0" anchor="t">
            <a:normAutofit/>
          </a:bodyPr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entrée non fiable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21467" y="2125365"/>
            <a:ext cx="31565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01991" y="1859955"/>
            <a:ext cx="3188018" cy="957580"/>
          </a:xfrm>
          <a:prstGeom prst="roundRect">
            <a:avLst>
              <a:gd name="adj" fmla="val 7626"/>
            </a:avLst>
          </a:prstGeom>
          <a:solidFill>
            <a:srgbClr val="E0999A"/>
          </a:solidFill>
          <a:ln w="6350">
            <a:solidFill>
              <a:srgbClr val="DFE3E9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7" name="Text 5"/>
          <p:cNvSpPr/>
          <p:nvPr/>
        </p:nvSpPr>
        <p:spPr>
          <a:xfrm>
            <a:off x="4613105" y="2115840"/>
            <a:ext cx="296579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2A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concaténée dans un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13105" y="2338685"/>
            <a:ext cx="296579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2A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texte de programme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07484" y="2125365"/>
            <a:ext cx="31565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188008" y="1859955"/>
            <a:ext cx="3188018" cy="957580"/>
          </a:xfrm>
          <a:prstGeom prst="roundRect">
            <a:avLst>
              <a:gd name="adj" fmla="val 7626"/>
            </a:avLst>
          </a:prstGeom>
          <a:solidFill>
            <a:srgbClr val="E7EDF2"/>
          </a:solidFill>
          <a:ln w="6350">
            <a:solidFill>
              <a:srgbClr val="DFE3E9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1" name="Text 9"/>
          <p:cNvSpPr/>
          <p:nvPr/>
        </p:nvSpPr>
        <p:spPr>
          <a:xfrm>
            <a:off x="8299121" y="2115840"/>
            <a:ext cx="296579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interpréteur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99121" y="2338685"/>
            <a:ext cx="296579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(SQL / shell / HTML)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2800" y="304929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faille</a:t>
            </a: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 à l'étape du milieu. </a:t>
            </a:r>
            <a:r>
              <a:rPr lang="en-US" sz="1500" b="1" dirty="0">
                <a:solidFill>
                  <a:srgbClr val="2C6E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remède</a:t>
            </a: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 toujours le même : séparer le code des données par des API structurées.</a:t>
            </a:r>
            <a:endParaRPr lang="en-US" sz="15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7 · INJECTION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 variantes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582" y="1832670"/>
            <a:ext cx="527100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Injection SQL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Injection de commandes OS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Traversal de chemin (path)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56782" y="1832670"/>
            <a:ext cx="527100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Cross-site scripting (XSS)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LDAP, XPath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Template, log injection…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782590"/>
            <a:ext cx="10566400" cy="570230"/>
          </a:xfrm>
          <a:prstGeom prst="roundRect">
            <a:avLst>
              <a:gd name="adj" fmla="val 13363"/>
            </a:avLst>
          </a:prstGeom>
          <a:solidFill>
            <a:srgbClr val="FFFFFF"/>
          </a:solidFill>
          <a:ln/>
        </p:spPr>
        <p:txBody>
          <a:bodyPr wrap="square" lIns="244382" tIns="142782" rIns="0" bIns="1173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point A05 de l'OWASP Top 10 2025 ; longtemps n°1. Toutes partagent la même cause et le même remède.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12800" y="2782590"/>
            <a:ext cx="10566400" cy="570230"/>
          </a:xfrm>
          <a:custGeom>
            <a:avLst/>
            <a:gdLst/>
            <a:ahLst/>
            <a:cxnLst/>
            <a:rect l="l" t="t" r="r" b="b"/>
            <a:pathLst>
              <a:path w="10566400" h="570230">
                <a:moveTo>
                  <a:pt x="76200" y="570230"/>
                </a:moveTo>
                <a:lnTo>
                  <a:pt x="76200" y="5702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49403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7 · SQLI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problème : la concaténation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Construire une requête SQL en collant des bouts de chaîne avec l'entrée utilisateur mélange le code (la requête) et les données (les valeurs).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64031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L'attaquant fournit une « valeur » qui contient en réalité de la syntaxe SQL.</a:t>
            </a:r>
            <a:endParaRPr lang="en-US" sz="14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7 · SQLI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vulnérable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10566400" cy="1836737"/>
          </a:xfrm>
          <a:prstGeom prst="roundRect">
            <a:avLst>
              <a:gd name="adj" fmla="val 4840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8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login(username, password):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q = ("SELECT * FROM users "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9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"WHERE name='" + username + "' 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"AND pass='" + password + "'")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2200" y="307211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db.execute(q).fetchone()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2800" y="3769717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pour username = alice, password = hunter2. Mais username est collé directement dans la requête.</a:t>
            </a:r>
            <a:endParaRPr lang="en-US" sz="13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7 · SQLI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L'attaque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10566400" cy="1305243"/>
          </a:xfrm>
          <a:prstGeom prst="roundRect">
            <a:avLst>
              <a:gd name="adj" fmla="val 6811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8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username =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alice' --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SELECT * FROM users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9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WHERE name='</a:t>
            </a:r>
            <a:r>
              <a:rPr lang="en-US" sz="1350" dirty="0">
                <a:solidFill>
                  <a:srgbClr val="9FD0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alice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' </a:t>
            </a: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--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' AND pass='...'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2800" y="3238202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 ce qui suit -- est un commentaire SQL. La vérification du mot de passe est ignorée : l'attaquant se connecte en tant qu'alice.</a:t>
            </a:r>
            <a:endParaRPr lang="en-US" sz="13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7 · SQLI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Bobby Tables (xkcd 327)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10566400" cy="1836737"/>
          </a:xfrm>
          <a:prstGeom prst="roundRect">
            <a:avLst>
              <a:gd name="adj" fmla="val 4840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8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name saisi par un parent facetieux 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Robert'); DROP TABLE students; --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9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la requete d insertion devient 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INSERT INTO students (name)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2200" y="307211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VALUES ('Robert'); </a:t>
            </a: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DROP TABLE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students; --')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2800" y="3769717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Cause racine : construire un programme (SQL) par concaténation de chaînes avec une entrée non fiable.</a:t>
            </a:r>
            <a:endParaRPr lang="en-US" sz="13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7 · SQLI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Quelques formes de SQLi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Classique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lit ou contourne directement (bypass d'auth).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3267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94200" y="183267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6228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28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ajoute un SELECT pour extraire d'autres tables.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3267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75600" y="183267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2042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Aveugle (blind)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42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de sortie visible : on déduit via vrai/faux ou temps de réponse.</a:t>
            </a:r>
            <a:endParaRPr lang="en-US" sz="13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7 · SQLI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remède : requêtes paramétrées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pilote envoie la </a:t>
            </a: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requête</a:t>
            </a: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les </a:t>
            </a: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paramètres</a:t>
            </a: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sur deux canaux séparés. La base planifie d'abord la requête, puis lie les valeurs : elles restent à jamais des données, jamais du code.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569270"/>
            <a:ext cx="10566400" cy="570230"/>
          </a:xfrm>
          <a:prstGeom prst="roundRect">
            <a:avLst>
              <a:gd name="adj" fmla="val 13363"/>
            </a:avLst>
          </a:prstGeom>
          <a:solidFill>
            <a:srgbClr val="FFFFFF"/>
          </a:solidFill>
          <a:ln/>
        </p:spPr>
        <p:txBody>
          <a:bodyPr wrap="square" lIns="244382" tIns="142782" rIns="0" bIns="1173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 : c'est aussi plus rapide — la base réutilise le plan de requête d'un appel à l'autre.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12800" y="2569270"/>
            <a:ext cx="10566400" cy="570230"/>
          </a:xfrm>
          <a:custGeom>
            <a:avLst/>
            <a:gdLst/>
            <a:ahLst/>
            <a:cxnLst/>
            <a:rect l="l" t="t" r="r" b="b"/>
            <a:pathLst>
              <a:path w="10566400" h="570230">
                <a:moveTo>
                  <a:pt x="76200" y="570230"/>
                </a:moveTo>
                <a:lnTo>
                  <a:pt x="76200" y="5702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49403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7 · SQLI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corrigé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10566400" cy="1305243"/>
          </a:xfrm>
          <a:prstGeom prst="roundRect">
            <a:avLst>
              <a:gd name="adj" fmla="val 6811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8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login(username, password):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q = "SELECT * FROM users WHERE name=? AND pass=?"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9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db.execute(q, (username, password)).fetchone()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2800" y="3238202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? sont des emplacements. username et password sont transmis à part : impossible qu'ils modifient la structure de la requête.</a:t>
            </a:r>
            <a:endParaRPr lang="en-US" sz="13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7 · SQLI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548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Deux canaux séparés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5975" y="1859955"/>
            <a:ext cx="7954169" cy="547370"/>
          </a:xfrm>
          <a:prstGeom prst="roundRect">
            <a:avLst>
              <a:gd name="adj" fmla="val 11021"/>
            </a:avLst>
          </a:prstGeom>
          <a:solidFill>
            <a:srgbClr val="E7EDF2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74736" tIns="149336" rIns="0" bIns="12393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SELECT ... ? AND 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5975" y="2540695"/>
            <a:ext cx="7954169" cy="547370"/>
          </a:xfrm>
          <a:prstGeom prst="roundRect">
            <a:avLst>
              <a:gd name="adj" fmla="val 11021"/>
            </a:avLst>
          </a:prstGeom>
          <a:solidFill>
            <a:srgbClr val="F0E2C4"/>
          </a:solidFill>
          <a:ln w="6350">
            <a:solidFill>
              <a:srgbClr val="DFE3E9"/>
            </a:solidFill>
            <a:prstDash val="solid"/>
          </a:ln>
        </p:spPr>
        <p:txBody>
          <a:bodyPr wrap="square" lIns="174736" tIns="149336" rIns="0" bIns="12393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("alice", "hunter2")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094312" y="2049760"/>
            <a:ext cx="33651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099550" y="2296220"/>
            <a:ext cx="2699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090819" y="2702620"/>
            <a:ext cx="34499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98990" y="2084685"/>
            <a:ext cx="1677035" cy="778510"/>
          </a:xfrm>
          <a:prstGeom prst="roundRect">
            <a:avLst>
              <a:gd name="adj" fmla="val 9380"/>
            </a:avLst>
          </a:prstGeom>
          <a:solidFill>
            <a:srgbClr val="D9E4EA"/>
          </a:solidFill>
          <a:ln w="6350">
            <a:solidFill>
              <a:srgbClr val="DFE3E9"/>
            </a:solidFill>
            <a:prstDash val="solid"/>
          </a:ln>
        </p:spPr>
        <p:txBody>
          <a:bodyPr wrap="none" lIns="1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Moteur SQL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331976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requête est planifiée </a:t>
            </a: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avant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les valeurs n'arrivent : la structure est figée.</a:t>
            </a:r>
            <a:endParaRPr lang="en-US" sz="14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7 · SQLI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 pratique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582" y="1832670"/>
            <a:ext cx="10843514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systématiquement les requêtes paramétrées du pilote.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ORM (SQLAlchemy, Django…) paramètrent par défaut — mais attention au SQL brut.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Valider et restreindre les entrées en plus (défense en profondeur), jamais à la place.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Principe de moindre privilège sur le compte de base de données.</a:t>
            </a:r>
            <a:endParaRPr lang="en-US" sz="14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7 · LABO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 : Flask et Juice Shop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5194300" cy="37782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5194300" cy="3778250"/>
          </a:xfrm>
          <a:custGeom>
            <a:avLst/>
            <a:gdLst/>
            <a:ahLst/>
            <a:cxnLst/>
            <a:rect l="l" t="t" r="r" b="b"/>
            <a:pathLst>
              <a:path w="51943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Exploiter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Défis SQLi de Flask et Juice Shop : contourner le login, extraire des données.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70"/>
            <a:ext cx="5194300" cy="37782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70"/>
            <a:ext cx="5194300" cy="3778250"/>
          </a:xfrm>
          <a:custGeom>
            <a:avLst/>
            <a:gdLst/>
            <a:ahLst/>
            <a:cxnLst/>
            <a:rect l="l" t="t" r="r" b="b"/>
            <a:pathLst>
              <a:path w="51943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Corriger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Reprendre un extrait vulnérable et le passer en requête paramétrée.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581412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Juice Shop se lance en une commande Docker ; feedback immédiat via le score board.</a:t>
            </a:r>
            <a:endParaRPr lang="en-US" sz="13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7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À retenir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39470" y="1832670"/>
            <a:ext cx="1085062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L'injection = une donnée non fiable traitée comme du code.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SQLi naît de la concaténation de chaînes dans la requête.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remède : requêtes paramétrées (code et données sur des canaux séparés).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Valider les entrées et limiter les privilèges en complément.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Unité 7 — Injection &amp; SQLi</a:t>
            </a:r>
            <a:endParaRPr lang="en-US" sz="12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8282"/>
            <a:ext cx="10883392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</a:t>
            </a:r>
            <a:endParaRPr lang="en-US" sz="9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551932"/>
            <a:ext cx="10883392" cy="54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Commandes, chemins &amp; XSS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2800" y="4249738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Trois injections, un seul remède</a:t>
            </a:r>
            <a:endParaRPr lang="en-US" sz="18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8 · COMMANDES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Injection de commandes 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un programme construit une commande shell avec une entrée utilisateur, l'attaquant peut y glisser ses propres commandes.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64031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shell interprète des caractères spéciaux (; | &amp;&amp; $()) comme de la syntaxe, pas comme du texte.</a:t>
            </a:r>
            <a:endParaRPr lang="en-US" sz="14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8 · COMMANDES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vulnérable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10566400" cy="1305243"/>
          </a:xfrm>
          <a:prstGeom prst="roundRect">
            <a:avLst>
              <a:gd name="adj" fmla="val 6811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8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make_thumbnail(filename):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os.system("convert " + filename + " thumb.png")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9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make_thumbnail("photo.jpg ; rm -rf /")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2800" y="3238202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os.system passe la chaîne au shell. « ; rm -rf / » est une séquence shell parfaitement légale.</a:t>
            </a:r>
            <a:endParaRPr lang="en-US" sz="13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8 · COMMANDES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remède : argv séparé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10566400" cy="1305243"/>
          </a:xfrm>
          <a:prstGeom prst="roundRect">
            <a:avLst>
              <a:gd name="adj" fmla="val 6811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8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subprocess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subprocess.run(["convert", filename, "thumb.png"],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9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check=True)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2800" y="3238202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 shell : filename est un élément du tableau d'arguments, jamais du code. Même logique que les requêtes paramétrées.</a:t>
            </a:r>
            <a:endParaRPr lang="en-US" sz="13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8 · COMMANDES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Éviter le shell, ou échapper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201" y="1832670"/>
            <a:ext cx="10843895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 d'or : passer le programme et ses arguments en </a:t>
            </a: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sans shell.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un shell est inévitable : échapper avec shlex.quote().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jamais construire une commande par concaténation de chaînes.</a:t>
            </a:r>
            <a:endParaRPr lang="en-US" sz="145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8 · CHEMINS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Traversal de chemin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une entrée utilisateur entre dans une API de fichiers privilégiée, l'attaquant peut sortir du répertoire prévu avec des « .. ».</a:t>
            </a:r>
            <a:endParaRPr lang="en-US" sz="15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8 · CHEMINS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vulnérable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10566400" cy="1570990"/>
          </a:xfrm>
          <a:prstGeom prst="roundRect">
            <a:avLst>
              <a:gd name="adj" fmla="val 5659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8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download(name):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path = "/var/www/files/" + name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9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open(path).read()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download("../../etc/passwd")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sort du repertoire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2800" y="350391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= ../../etc/passwd remonte l'arborescence et lit un fichier système sensible.</a:t>
            </a:r>
            <a:endParaRPr lang="en-US" sz="13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8 · CHEMINS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remède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582" y="1832670"/>
            <a:ext cx="10843514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Résoudre le chemin réel (realpath) et vérifier qu'il reste </a:t>
            </a: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sous le répertoire de base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Rejeter tout composant « .. ».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des primitives OS comme openat avec O_NOFOLLOW.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Mieux : ne pas exposer de nom de fichier libre (identifiant indirect).</a:t>
            </a:r>
            <a:endParaRPr lang="en-US" sz="14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8 · XSS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Cross-site scripting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10566400" cy="153162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10566400" cy="1531620"/>
          </a:xfrm>
          <a:custGeom>
            <a:avLst/>
            <a:gdLst/>
            <a:ahLst/>
            <a:cxnLst/>
            <a:rect l="l" t="t" r="r" b="b"/>
            <a:pathLst>
              <a:path w="10566400" h="1531620">
                <a:moveTo>
                  <a:pt x="76200" y="1531620"/>
                </a:moveTo>
                <a:lnTo>
                  <a:pt x="76200" y="15316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55420"/>
                </a:lnTo>
                <a:arcTo wR="25400" hR="76200" stAng="108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7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XSS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90"/>
            <a:ext cx="10203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entrée fournie par un utilisateur est renvoyée dans une page HTML sans être échappée, de sorte qu'un script de l'attaquant s'exécute dans le navigateur d'une victime.</a:t>
            </a:r>
            <a:endParaRPr lang="en-US" sz="16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8 · XSS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vulnérable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10566400" cy="1836737"/>
          </a:xfrm>
          <a:prstGeom prst="roundRect">
            <a:avLst>
              <a:gd name="adj" fmla="val 4840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8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@app.route("/search")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search():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9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q = request.args["q"]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"&lt;p&gt;Recherche : " + q + "&lt;/p&gt;"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2200" y="307211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q = &lt;script&gt;steal(document.cookie)&lt;/script&gt;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2800" y="3769717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navigateur reçoit le script injecté et l'exécute : il tourne chez chaque visiteur de la page.</a:t>
            </a:r>
            <a:endParaRPr lang="en-US" sz="13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8 · XSS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Trois formes de XSS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Réfléchi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script revient dans la réponse immédiate (lien piégé).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3267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94200" y="183267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6228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Stocké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28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script est enregistré (commentaire, profil) et servi à tous.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3267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75600" y="183267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2042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42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script s'injecte côté client via du JavaScript non sûr.</a:t>
            </a:r>
            <a:endParaRPr lang="en-US" sz="13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8 · XSS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remède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582" y="1832670"/>
            <a:ext cx="10843514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Échapper les chaînes non fiables selon le contexte HTML (&amp;lt; &amp;gt; &amp;amp; &amp;quot;).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un moteur de templates qui échappe par défaut (Jinja2, React, Vue).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Ajouter une </a:t>
            </a: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Security Policy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(CSP) pour limiter les scripts exécutables.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Marquer les cookies sensibles HttpOnly.</a:t>
            </a:r>
            <a:endParaRPr lang="en-US" sz="14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8 · LABO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 : Flask et Juice Shop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Exploiter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Défis command injection, path traversal et XSS dans Flask et Juice Shop.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7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7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Corriger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Mettre en place argv, validation de chemin, échappement et CSP.</a:t>
            </a:r>
            <a:endParaRPr lang="en-US" sz="13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8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À retenir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201" y="1832670"/>
            <a:ext cx="10843895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Commande, chemin et XSS sont trois visages de la même injection.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remède est toujours : séparer code et données (argv, API structurées, échappement).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concaténation de chaînes est l'ennemi commun.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défense en profondeur (validation, CSP, moindre privilège) complète le remède principal.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Unité 8 — Commandes, chemins &amp; XSS</a:t>
            </a:r>
            <a:endParaRPr lang="en-US" sz="12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8282"/>
            <a:ext cx="10883392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</a:t>
            </a:r>
            <a:endParaRPr lang="en-US" sz="9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551932"/>
            <a:ext cx="10883392" cy="54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Bonnes pratiques &amp; analyse statique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2800" y="4249738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Écrire du code défensif, et l'outiller</a:t>
            </a:r>
            <a:endParaRPr lang="en-US" sz="18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CODE SÛR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Cinq défauts critiques récurrents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39470" y="1832670"/>
            <a:ext cx="10850626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Entrée non validée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Cross-site scripting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Débordement de tampon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Failles d'injection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incorrecte des erreurs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3369370"/>
            <a:ext cx="10566400" cy="570230"/>
          </a:xfrm>
          <a:prstGeom prst="roundRect">
            <a:avLst>
              <a:gd name="adj" fmla="val 13363"/>
            </a:avLst>
          </a:prstGeom>
          <a:solidFill>
            <a:srgbClr val="FFFFFF"/>
          </a:solidFill>
          <a:ln/>
        </p:spPr>
        <p:txBody>
          <a:bodyPr wrap="square" lIns="244382" tIns="142782" rIns="0" bIns="1173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Tous viennent d'un contrôle insuffisant des données et des codes d'erreur. En avoir conscience est le premier pas.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12800" y="3369370"/>
            <a:ext cx="10566400" cy="570230"/>
          </a:xfrm>
          <a:custGeom>
            <a:avLst/>
            <a:gdLst/>
            <a:ahLst/>
            <a:cxnLst/>
            <a:rect l="l" t="t" r="r" b="b"/>
            <a:pathLst>
              <a:path w="10566400" h="570230">
                <a:moveTo>
                  <a:pt x="76200" y="570230"/>
                </a:moveTo>
                <a:lnTo>
                  <a:pt x="76200" y="5702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49403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CODE SÛR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Programmation défensive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10566400" cy="153162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10566400" cy="1531620"/>
          </a:xfrm>
          <a:custGeom>
            <a:avLst/>
            <a:gdLst/>
            <a:ahLst/>
            <a:cxnLst/>
            <a:rect l="l" t="t" r="r" b="b"/>
            <a:pathLst>
              <a:path w="10566400" h="1531620">
                <a:moveTo>
                  <a:pt x="76200" y="1531620"/>
                </a:moveTo>
                <a:lnTo>
                  <a:pt x="76200" y="15316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5542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7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Programmation défensive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90"/>
            <a:ext cx="10203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Concevoir et écrire le logiciel pour qu'il continue de fonctionner correctement même sous attaque : vérifier toutes les hypothèses, gérer tous les états d'erreur.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56741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 d'or : ne jamais rien supposer sur l'entrée ni sur l'environnement.</a:t>
            </a:r>
            <a:endParaRPr lang="en-US" sz="14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CODE SÛR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by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582" y="1832670"/>
            <a:ext cx="10843514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Intégrer la sécurité dès la conception, pas après coup.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S'appuyer sur des pratiques éprouvées (ex. SAFECode).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Partitionner le programme en modules à privilèges limités.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sécurité entre en tension avec la pression du délai : en faire un objectif explicite.</a:t>
            </a:r>
            <a:endParaRPr lang="en-US" sz="14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VALIDATION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Valider l'entrée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Comparer l'entrée à ce qui est </a:t>
            </a:r>
            <a:r>
              <a:rPr lang="en-US" sz="17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attendu</a:t>
            </a: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pas à une liste de valeurs interdites.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6582" y="2338090"/>
            <a:ext cx="1084351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 blanche &gt; liste noire : n'accepter que le connu-bon.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Valider type, longueur, format, plage.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Traiter toute entrée comme dangereuse par défaut.</a:t>
            </a:r>
            <a:endParaRPr lang="en-US" sz="14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VALIDATION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Encodages &amp; canonicalisation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même caractère peut s'écrire de plusieurs façons (Unicode, UTF, séquences équivalentes).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6582" y="2338090"/>
            <a:ext cx="1084351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Transformer l'entrée en une forme canonique unique </a:t>
            </a: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avant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la comparer.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Sinon un filtre peut être contourné par un encodage alternatif.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Fixer et déclarer le jeu de caractères.</a:t>
            </a:r>
            <a:endParaRPr lang="en-US" sz="14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VALIDATION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Entrées numériques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582" y="1832670"/>
            <a:ext cx="10843514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Valeurs stockées sur une taille fixe (8/16/32/64 bits), signées ou non.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Dépassement d'entier : un calcul déborde silencieusement et fausse une vérification.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Comparer signé et non signé peut désactiver un contrôle de taille.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Valider la plage et le signe avant usage.</a:t>
            </a:r>
            <a:endParaRPr lang="en-US" sz="14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VALIDATION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Variables d'environnement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variables d'environnement sont une entrée non fiable héritée du parent, souvent oubliée.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6582" y="2338090"/>
            <a:ext cx="1084351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utilisateur local peut les manipuler pour détourner un programme privilégié.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assainir ou les ignorer dans les programmes sensibles (ex. setuid).</a:t>
            </a:r>
            <a:endParaRPr lang="en-US" sz="14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CODE SÛR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Race conditions &amp; TOCTOU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10566400" cy="153162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10566400" cy="1531620"/>
          </a:xfrm>
          <a:custGeom>
            <a:avLst/>
            <a:gdLst/>
            <a:ahLst/>
            <a:cxnLst/>
            <a:rect l="l" t="t" r="r" b="b"/>
            <a:pathLst>
              <a:path w="10566400" h="1531620">
                <a:moveTo>
                  <a:pt x="76200" y="1531620"/>
                </a:moveTo>
                <a:lnTo>
                  <a:pt x="76200" y="15316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55420"/>
                </a:lnTo>
                <a:arcTo wR="25400" hR="76200" stAng="108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7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Race condition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90"/>
            <a:ext cx="10203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 synchronisation, l'ordre d'accès concurrents à une ressource partagée peut corrompre ou perdre des données.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56741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 classique TOCTOU : vérifier un fichier puis l'utiliser — l'attaquant le remplace entre les deux. Remède : verrous, opérations atomiques.</a:t>
            </a:r>
            <a:endParaRPr lang="en-US" sz="13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CODE SÛR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Moindre privilège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582" y="1832670"/>
            <a:ext cx="10843514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Exécuter chaque programme avec le minimum de droits nécessaires.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Souvent les privilèges ne servent qu'au démarrage : les abandonner ensuite.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Limiter les fichiers et répertoires accessibles.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Réduit l'impact d'une compromission d'un composant.</a:t>
            </a:r>
            <a:endParaRPr lang="en-US" sz="14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CODE SÛR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Gérer la sortie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sortie doit aussi être maîtrisée : stockée, envoyée, affichée.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6582" y="2338090"/>
            <a:ext cx="1084351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N'émettre que du contenu permis, filtrer toute donnée non fiable.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Encoder selon le contexte de destination (HTML, journal, terminal).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Spécifier le jeu de caractères.</a:t>
            </a:r>
            <a:endParaRPr lang="en-US" sz="14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SAST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Analyse statique (SAST)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10566400" cy="153162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10566400" cy="1531620"/>
          </a:xfrm>
          <a:custGeom>
            <a:avLst/>
            <a:gdLst/>
            <a:ahLst/>
            <a:cxnLst/>
            <a:rect l="l" t="t" r="r" b="b"/>
            <a:pathLst>
              <a:path w="10566400" h="1531620">
                <a:moveTo>
                  <a:pt x="76200" y="1531620"/>
                </a:moveTo>
                <a:lnTo>
                  <a:pt x="76200" y="15316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5542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7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SAST (Static Application Security Testing)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90"/>
            <a:ext cx="10203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Analyser le code source (ou le binaire) sans l'exécuter pour repérer automatiquement des motifs vulnérables.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56741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Complémentaire de la revue humaine : rapide, systématique, intégrable à la CI.</a:t>
            </a:r>
            <a:endParaRPr lang="en-US" sz="13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SAST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Outils et usage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3403600" cy="377825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3403600" cy="3778250"/>
          </a:xfrm>
          <a:custGeom>
            <a:avLst/>
            <a:gdLst/>
            <a:ahLst/>
            <a:cxnLst/>
            <a:rect l="l" t="t" r="r" b="b"/>
            <a:pathLst>
              <a:path w="34036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Semgrep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Règles lisibles, multi-langages, rapide à adopter.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32670"/>
            <a:ext cx="3403600" cy="377825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94200" y="1832670"/>
            <a:ext cx="3403600" cy="3778250"/>
          </a:xfrm>
          <a:custGeom>
            <a:avLst/>
            <a:gdLst/>
            <a:ahLst/>
            <a:cxnLst/>
            <a:rect l="l" t="t" r="r" b="b"/>
            <a:pathLst>
              <a:path w="34036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6228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cppcheck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2800" y="2406650"/>
            <a:ext cx="3034792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statique pour C/C++.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32670"/>
            <a:ext cx="3403600" cy="377825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75600" y="1832670"/>
            <a:ext cx="3403600" cy="3778250"/>
          </a:xfrm>
          <a:custGeom>
            <a:avLst/>
            <a:gdLst/>
            <a:ahLst/>
            <a:cxnLst/>
            <a:rect l="l" t="t" r="r" b="b"/>
            <a:pathLst>
              <a:path w="34036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2042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bandit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42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Ciblé Python ; CodeQL pour l'analyse par requêtes.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581412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Travail clé : trier les résultats (vrais vs faux positifs) et prioriser.</a:t>
            </a:r>
            <a:endParaRPr lang="en-US" sz="13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SAST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1115120"/>
            <a:ext cx="10988040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7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Lire et interpréter un rapport SAST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1614785"/>
            <a:ext cx="109880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rapport SAST est une liste de findings à TRIER, pas une liste de failles confirmées.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985665"/>
            <a:ext cx="3462814" cy="975360"/>
          </a:xfrm>
          <a:prstGeom prst="roundRect">
            <a:avLst>
              <a:gd name="adj" fmla="val 91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Shape 4"/>
          <p:cNvSpPr/>
          <p:nvPr/>
        </p:nvSpPr>
        <p:spPr>
          <a:xfrm>
            <a:off x="762000" y="1985665"/>
            <a:ext cx="3462814" cy="975360"/>
          </a:xfrm>
          <a:custGeom>
            <a:avLst/>
            <a:gdLst/>
            <a:ahLst/>
            <a:cxnLst/>
            <a:rect l="l" t="t" r="r" b="b"/>
            <a:pathLst>
              <a:path w="3462814" h="97536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73914" y="0"/>
                </a:lnTo>
                <a:arcTo wR="88900" hR="88900" stAng="16200000" swAng="5400000"/>
                <a:lnTo>
                  <a:pt x="3462814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7" name="Text 5"/>
          <p:cNvSpPr/>
          <p:nvPr/>
        </p:nvSpPr>
        <p:spPr>
          <a:xfrm>
            <a:off x="927100" y="2191445"/>
            <a:ext cx="322659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Finding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7100" y="2432745"/>
            <a:ext cx="32265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Vulnérabilité potentielle signalée par l'outil (un motif à risque).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4514" y="1985665"/>
            <a:ext cx="3462893" cy="975360"/>
          </a:xfrm>
          <a:prstGeom prst="roundRect">
            <a:avLst>
              <a:gd name="adj" fmla="val 91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Shape 8"/>
          <p:cNvSpPr/>
          <p:nvPr/>
        </p:nvSpPr>
        <p:spPr>
          <a:xfrm>
            <a:off x="4364514" y="1985665"/>
            <a:ext cx="3462893" cy="975360"/>
          </a:xfrm>
          <a:custGeom>
            <a:avLst/>
            <a:gdLst/>
            <a:ahLst/>
            <a:cxnLst/>
            <a:rect l="l" t="t" r="r" b="b"/>
            <a:pathLst>
              <a:path w="3462893" h="97536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73993" y="0"/>
                </a:lnTo>
                <a:arcTo wR="88900" hR="88900" stAng="16200000" swAng="5400000"/>
                <a:lnTo>
                  <a:pt x="3462893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1" name="Text 9"/>
          <p:cNvSpPr/>
          <p:nvPr/>
        </p:nvSpPr>
        <p:spPr>
          <a:xfrm>
            <a:off x="4529614" y="2191445"/>
            <a:ext cx="322667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Severity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9614" y="2432745"/>
            <a:ext cx="322667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Gravité estimée de l'impact : Low, Medium, High.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67107" y="1985665"/>
            <a:ext cx="3462893" cy="975360"/>
          </a:xfrm>
          <a:prstGeom prst="roundRect">
            <a:avLst>
              <a:gd name="adj" fmla="val 91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Shape 12"/>
          <p:cNvSpPr/>
          <p:nvPr/>
        </p:nvSpPr>
        <p:spPr>
          <a:xfrm>
            <a:off x="7967107" y="1985665"/>
            <a:ext cx="3462893" cy="975360"/>
          </a:xfrm>
          <a:custGeom>
            <a:avLst/>
            <a:gdLst/>
            <a:ahLst/>
            <a:cxnLst/>
            <a:rect l="l" t="t" r="r" b="b"/>
            <a:pathLst>
              <a:path w="3462893" h="97536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73993" y="0"/>
                </a:lnTo>
                <a:arcTo wR="88900" hR="88900" stAng="16200000" swAng="5400000"/>
                <a:lnTo>
                  <a:pt x="3462893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5" name="Text 13"/>
          <p:cNvSpPr/>
          <p:nvPr/>
        </p:nvSpPr>
        <p:spPr>
          <a:xfrm>
            <a:off x="8132207" y="2191445"/>
            <a:ext cx="322667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Confidence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32207" y="2432745"/>
            <a:ext cx="322667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Degré de certitude de la détection — distinct de la gravité.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2000" y="3100685"/>
            <a:ext cx="5264150" cy="975360"/>
          </a:xfrm>
          <a:prstGeom prst="roundRect">
            <a:avLst>
              <a:gd name="adj" fmla="val 91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8" name="Shape 16"/>
          <p:cNvSpPr/>
          <p:nvPr/>
        </p:nvSpPr>
        <p:spPr>
          <a:xfrm>
            <a:off x="762000" y="3100685"/>
            <a:ext cx="5264150" cy="975360"/>
          </a:xfrm>
          <a:custGeom>
            <a:avLst/>
            <a:gdLst/>
            <a:ahLst/>
            <a:cxnLst/>
            <a:rect l="l" t="t" r="r" b="b"/>
            <a:pathLst>
              <a:path w="5264150" h="97536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75250" y="0"/>
                </a:lnTo>
                <a:arcTo wR="88900" hR="88900" stAng="16200000" swAng="5400000"/>
                <a:lnTo>
                  <a:pt x="526415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9" name="Text 17"/>
          <p:cNvSpPr/>
          <p:nvPr/>
        </p:nvSpPr>
        <p:spPr>
          <a:xfrm>
            <a:off x="927100" y="3306465"/>
            <a:ext cx="508196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Vrai / faux positif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7100" y="3547765"/>
            <a:ext cx="5081969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Vrai positif = anomalie réelle à corriger. Faux positif = alerte non pertinente, à écarter avec justification.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65850" y="3100685"/>
            <a:ext cx="5264150" cy="975360"/>
          </a:xfrm>
          <a:prstGeom prst="roundRect">
            <a:avLst>
              <a:gd name="adj" fmla="val 91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2" name="Shape 20"/>
          <p:cNvSpPr/>
          <p:nvPr/>
        </p:nvSpPr>
        <p:spPr>
          <a:xfrm>
            <a:off x="6165850" y="3100685"/>
            <a:ext cx="5264150" cy="975360"/>
          </a:xfrm>
          <a:custGeom>
            <a:avLst/>
            <a:gdLst/>
            <a:ahLst/>
            <a:cxnLst/>
            <a:rect l="l" t="t" r="r" b="b"/>
            <a:pathLst>
              <a:path w="5264150" h="97536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75250" y="0"/>
                </a:lnTo>
                <a:arcTo wR="88900" hR="88900" stAng="16200000" swAng="5400000"/>
                <a:lnTo>
                  <a:pt x="526415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3" name="Text 21"/>
          <p:cNvSpPr/>
          <p:nvPr/>
        </p:nvSpPr>
        <p:spPr>
          <a:xfrm>
            <a:off x="6330950" y="3306465"/>
            <a:ext cx="508196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Faux négatif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30950" y="3547765"/>
            <a:ext cx="5081969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Vulnérabilité bien présente mais NON détectée : un rapport vide ne prouve pas l'absence de faille.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000" y="4215805"/>
            <a:ext cx="10668000" cy="543560"/>
          </a:xfrm>
          <a:prstGeom prst="roundRect">
            <a:avLst>
              <a:gd name="adj" fmla="val 16355"/>
            </a:avLst>
          </a:prstGeom>
          <a:solidFill>
            <a:srgbClr val="12202F"/>
          </a:solidFill>
          <a:ln/>
        </p:spPr>
        <p:txBody>
          <a:bodyPr wrap="square" lIns="227962" tIns="139062" rIns="0" bIns="11366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B608 hardcoded_sql_expressions Severity: Medium Confidence: Low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2000" y="4899025"/>
            <a:ext cx="109880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de notre U09 : impact potentiel Medium, mais Confidence Low → l'outil n'est pas sûr, à vérifier à la main. Ici, c'était un vrai positif (requête SQL concaténée).</a:t>
            </a:r>
            <a:endParaRPr lang="en-US" sz="12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SAST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201" y="1832670"/>
            <a:ext cx="10843895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Faux positifs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du bruit à trier, sinon l'outil est ignoré.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Faux négatifs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il ne trouve pas tout, surtout la logique métier.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combiner avec analyse dynamique, fuzzing et revue de code.</a:t>
            </a:r>
            <a:endParaRPr lang="en-US" sz="145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LABO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 de l'unité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Passer un SAST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Lancer Semgrep / cppcheck / bandit sur du code réel.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7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7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Classer les findings, distinguer vrais et faux positifs, proposer des correctifs.</a:t>
            </a:r>
            <a:endParaRPr lang="en-US" sz="13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9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À retenir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39470" y="1832670"/>
            <a:ext cx="1085062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jamais faire confiance à l'entrée : valider par liste blanche, canonicaliser.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 aux entrées numériques, variables d'env. et race conditions.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Moindre privilège et maîtrise de la sortie complètent la défense.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SAST outille la revue, sans la remplacer.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Unité 9 — Bonnes pratiques &amp; SAST</a:t>
            </a:r>
            <a:endParaRPr lang="en-US" sz="12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8282"/>
            <a:ext cx="10883392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9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551932"/>
            <a:ext cx="10883392" cy="54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Taint analysis, risque &amp; CVSS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2800" y="4249738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Repérer le flux dangereux, puis mesurer la gravité</a:t>
            </a:r>
            <a:endParaRPr lang="en-US" sz="18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10 · TAINT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L'objectif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veut un outil qui signale tout programme où une entrée non fiable peut atteindre un interpréteur dangereux.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64031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exactement le problème </a:t>
            </a: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→ sink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résout l'analyse de teinte (taint analysis).</a:t>
            </a:r>
            <a:endParaRPr lang="en-US" sz="14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10 · TAINT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Trois notions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Source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 ce que l'attaquant contrôle : paramètres HTTP, en-têtes, cookies, fichiers.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3267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94200" y="183267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6228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2800" y="2406650"/>
            <a:ext cx="30347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 ce qui interprète une chaîne comme du code : db.execute, os.system, eval.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3267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75600" y="183267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2042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Sanitiseur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42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fonction qui nettoie la teinte : échappement, requête paramétrée.</a:t>
            </a:r>
            <a:endParaRPr lang="en-US" sz="13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10 · TAINT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Analyse de teinte dynamique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programme instrumenté tient un </a:t>
            </a:r>
            <a:r>
              <a:rPr lang="en-US" sz="17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store</a:t>
            </a: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chaque valeur porte un bit de teinte, mis à jour à chaque opération.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6582" y="2640310"/>
            <a:ext cx="1084351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valeur issue d'une source est teintée (T = 1).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teinte se propage aux valeurs dérivées.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valeur teintée qui atteint un sink déclenche une alerte.</a:t>
            </a:r>
            <a:endParaRPr lang="en-US" sz="14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10 · TAINT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Règle de propagation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10566400" cy="153162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10566400" cy="1531620"/>
          </a:xfrm>
          <a:custGeom>
            <a:avLst/>
            <a:gdLst/>
            <a:ahLst/>
            <a:cxnLst/>
            <a:rect l="l" t="t" r="r" b="b"/>
            <a:pathLst>
              <a:path w="10566400" h="1531620">
                <a:moveTo>
                  <a:pt x="76200" y="1531620"/>
                </a:moveTo>
                <a:lnTo>
                  <a:pt x="76200" y="15316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5542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7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Propagation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90"/>
            <a:ext cx="10203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résultat d'une opération est teinté si au moins un de ses opérandes l'est : T(f(a₁,…,aₙ)) = T(a₁) &amp;or; … &amp;or; T(aₙ).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56741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Affectation, concaténation, formatage, appels de méthode : la teinte suit la donnée.</a:t>
            </a:r>
            <a:endParaRPr lang="en-US" sz="13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10 · TAINT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Exemple à tracer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10566400" cy="1836737"/>
          </a:xfrm>
          <a:prstGeom prst="roundRect">
            <a:avLst>
              <a:gd name="adj" fmla="val 4840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8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search(req):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q = req.args["q"]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(1)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9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needle = q.strip()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(2) propagation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sql = "SELECT ... n='" + needle + "'"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(3) propagation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2200" y="307211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E39A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db.execute(sql) </a:t>
            </a: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(4) SINK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2800" y="3769717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Attaque : q = x' OR 1=1--. Au départ, le shadow store est vide ; aucune valeur teintée.</a:t>
            </a:r>
            <a:endParaRPr lang="en-US" sz="13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10 · TAINT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shadow store, ligne par ligne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42830"/>
          <a:ext cx="10556240" cy="1737360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Variable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Valeur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x' OR 1=1--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needle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x' OR 1=1--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sql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SELECT ... n='x' OR 1=1--'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783310"/>
            <a:ext cx="10566400" cy="570230"/>
          </a:xfrm>
          <a:prstGeom prst="roundRect">
            <a:avLst>
              <a:gd name="adj" fmla="val 13363"/>
            </a:avLst>
          </a:prstGeom>
          <a:solidFill>
            <a:srgbClr val="FFFFFF"/>
          </a:solidFill>
          <a:ln/>
        </p:spPr>
        <p:txBody>
          <a:bodyPr wrap="square" lIns="244382" tIns="142782" rIns="0" bIns="1173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source teinte q ; strip propage à needle ; la concaténation propage à sql. Tout arrive teinté au sink.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812800" y="3783310"/>
            <a:ext cx="10566400" cy="570230"/>
          </a:xfrm>
          <a:custGeom>
            <a:avLst/>
            <a:gdLst/>
            <a:ahLst/>
            <a:cxnLst/>
            <a:rect l="l" t="t" r="r" b="b"/>
            <a:pathLst>
              <a:path w="10566400" h="570230">
                <a:moveTo>
                  <a:pt x="76200" y="570230"/>
                </a:moveTo>
                <a:lnTo>
                  <a:pt x="76200" y="5702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49403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10 · TAINT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4020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Étape 4 : alerte au sink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55180"/>
            <a:ext cx="10566400" cy="1836737"/>
          </a:xfrm>
          <a:prstGeom prst="roundRect">
            <a:avLst>
              <a:gd name="adj" fmla="val 4840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1092200" y="200918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7F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[TAINT ALERT] valeur teintee atteint le sink db.execute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2200" y="2274888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sink : search.py:5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2200" y="2540695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valeur : SELECT ... n='x' OR 1=1--'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2200" y="2806402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origine: req.args["q"] a search.py:2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2200" y="3072110"/>
            <a:ext cx="10307828" cy="29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trace : q -&gt; needle (strip) -&gt; sql (concat)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2800" y="3769717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db.execute est un sink enregistré. Avant d'exécuter, le runtime inspecte la teinte : T = 1 ⇒ alerte (et, selon la politique, blocage ou journalisation).</a:t>
            </a:r>
            <a:endParaRPr lang="en-US" sz="13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10 · RISQUE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Gérer le risque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fois les vulnérabilités trouvées, il faut les prioriser. Processus 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338090"/>
            <a:ext cx="10866374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8440" indent="-218440" algn="l">
              <a:lnSpc>
                <a:spcPts val="2030"/>
              </a:lnSpc>
              <a:buSzPct val="100000"/>
              <a:buFontTx/>
              <a:buAutoNum type="arabicPeriod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Identifier les risques.</a:t>
            </a:r>
            <a:endParaRPr lang="en-US" sz="1450" dirty="0"/>
          </a:p>
          <a:p>
            <a:pPr marL="218440" indent="-218440" algn="l">
              <a:lnSpc>
                <a:spcPts val="2030"/>
              </a:lnSpc>
              <a:buSzPct val="100000"/>
              <a:buFontTx/>
              <a:buAutoNum type="arabicPeriod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Analyser : probabilité × impact, puis classer.</a:t>
            </a:r>
            <a:endParaRPr lang="en-US" sz="1450" dirty="0"/>
          </a:p>
          <a:p>
            <a:pPr marL="218440" indent="-218440" algn="l">
              <a:lnSpc>
                <a:spcPts val="2030"/>
              </a:lnSpc>
              <a:buSzPct val="100000"/>
              <a:buFontTx/>
              <a:buAutoNum type="arabicPeriod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Planifier le traitement des plus critiques.</a:t>
            </a:r>
            <a:endParaRPr lang="en-US" sz="1450" dirty="0"/>
          </a:p>
          <a:p>
            <a:pPr marL="218440" indent="-218440" algn="l">
              <a:lnSpc>
                <a:spcPts val="2030"/>
              </a:lnSpc>
              <a:buSzPct val="100000"/>
              <a:buFontTx/>
              <a:buAutoNum type="arabicPeriod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Surveiller et réviser en continu.</a:t>
            </a:r>
            <a:endParaRPr lang="en-US" sz="145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10 · RISQUE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risk register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42830"/>
          <a:ext cx="10556240" cy="2021840"/>
        </p:xfrm>
        <a:graphic>
          <a:graphicData uri="http://schemas.openxmlformats.org/drawingml/2006/table">
            <a:tbl>
              <a:tblPr/>
              <a:tblGrid>
                <a:gridCol w="211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Actif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Menace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Probabilité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Niveau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Données utilisateurs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Accès non autorisé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Possible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Critique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Très élevé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Serveur applicatif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Déni de service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Possible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Élevé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Élevé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Dépendances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Lib. vulnérable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Probable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Élevé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Élevé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10 · RISQUE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Traiter le risque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Accepter / Éviter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Assumer un risque faible, ou renoncer à l'activité qui le crée.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3267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94200" y="183267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6228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Transférer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28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Partager via un tiers (assurance, prestataire).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32670"/>
            <a:ext cx="3403600" cy="421259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75600" y="1832670"/>
            <a:ext cx="3403600" cy="4212590"/>
          </a:xfrm>
          <a:custGeom>
            <a:avLst/>
            <a:gdLst/>
            <a:ahLst/>
            <a:cxnLst/>
            <a:rect l="l" t="t" r="r" b="b"/>
            <a:pathLst>
              <a:path w="34036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14700" y="0"/>
                </a:lnTo>
                <a:arcTo wR="88900" hR="88900" stAng="16200000" swAng="5400000"/>
                <a:lnTo>
                  <a:pt x="34036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204200" y="21018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Réduire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4200" y="2406650"/>
            <a:ext cx="30347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Baisser la probabilité (contrôles) ou l'impact (segmentation).</a:t>
            </a:r>
            <a:endParaRPr lang="en-US" sz="13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10 · GRAVITÉ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CVSS : scorer la gravité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10566400" cy="153162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10566400" cy="1531620"/>
          </a:xfrm>
          <a:custGeom>
            <a:avLst/>
            <a:gdLst/>
            <a:ahLst/>
            <a:cxnLst/>
            <a:rect l="l" t="t" r="r" b="b"/>
            <a:pathLst>
              <a:path w="10566400" h="1531620">
                <a:moveTo>
                  <a:pt x="76200" y="1531620"/>
                </a:moveTo>
                <a:lnTo>
                  <a:pt x="76200" y="15316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5542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7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CVSS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90"/>
            <a:ext cx="10203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score standardisé de 0 à 10 qui mesure la gravité d'une vulnérabilité (vecteur d'attaque, complexité, impact sur C/I/A…).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56741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Permet de comparer et prioriser les failles de façon reproductible.</a:t>
            </a:r>
            <a:endParaRPr lang="en-US" sz="13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10 · GRAVITÉ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1127820"/>
            <a:ext cx="10988040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7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CVSS v3.1 — Construire un vecteur de base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1640185"/>
            <a:ext cx="3462814" cy="2880995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762000" y="1640185"/>
            <a:ext cx="3462814" cy="2880995"/>
          </a:xfrm>
          <a:custGeom>
            <a:avLst/>
            <a:gdLst/>
            <a:ahLst/>
            <a:cxnLst/>
            <a:rect l="l" t="t" r="r" b="b"/>
            <a:pathLst>
              <a:path w="3462814" h="288099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73914" y="0"/>
                </a:lnTo>
                <a:arcTo wR="88900" hR="88900" stAng="16200000" swAng="5400000"/>
                <a:lnTo>
                  <a:pt x="3462814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939800" y="1858665"/>
            <a:ext cx="320043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Exploitabilité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9800" y="2120305"/>
            <a:ext cx="320043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vecteur d'attaque · AC complexité · PR privilèges requis · UI interaction utilisateur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64514" y="1640185"/>
            <a:ext cx="3462893" cy="2880995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64514" y="1640185"/>
            <a:ext cx="3462893" cy="2880995"/>
          </a:xfrm>
          <a:custGeom>
            <a:avLst/>
            <a:gdLst/>
            <a:ahLst/>
            <a:cxnLst/>
            <a:rect l="l" t="t" r="r" b="b"/>
            <a:pathLst>
              <a:path w="3462893" h="288099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73993" y="0"/>
                </a:lnTo>
                <a:arcTo wR="88900" hR="88900" stAng="16200000" swAng="5400000"/>
                <a:lnTo>
                  <a:pt x="3462893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542314" y="1858665"/>
            <a:ext cx="320051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Portée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2314" y="2120305"/>
            <a:ext cx="320051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: périmètre inchangé (U) ou modifié (C) — l'attaque touche-t-elle d'autres composants 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67107" y="1640185"/>
            <a:ext cx="3462893" cy="2880995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67107" y="1640185"/>
            <a:ext cx="3462893" cy="2880995"/>
          </a:xfrm>
          <a:custGeom>
            <a:avLst/>
            <a:gdLst/>
            <a:ahLst/>
            <a:cxnLst/>
            <a:rect l="l" t="t" r="r" b="b"/>
            <a:pathLst>
              <a:path w="3462893" h="288099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73993" y="0"/>
                </a:lnTo>
                <a:arcTo wR="88900" hR="88900" stAng="16200000" swAng="5400000"/>
                <a:lnTo>
                  <a:pt x="3462893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144907" y="1858665"/>
            <a:ext cx="320051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44907" y="2120305"/>
            <a:ext cx="320051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confidentialité · I intégrité · A disponibilité — chacune None / Low / High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2000" y="4673600"/>
            <a:ext cx="10668000" cy="843280"/>
          </a:xfrm>
          <a:prstGeom prst="roundRect">
            <a:avLst>
              <a:gd name="adj" fmla="val 10542"/>
            </a:avLst>
          </a:prstGeom>
          <a:solidFill>
            <a:srgbClr val="12202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7" name="Text 15"/>
          <p:cNvSpPr/>
          <p:nvPr/>
        </p:nvSpPr>
        <p:spPr>
          <a:xfrm>
            <a:off x="1016000" y="4838700"/>
            <a:ext cx="10464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CVSS:3.1/AV:N/AC:L/PR:N/UI:N/S:U/C:H/I:H/A:H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16000" y="5120680"/>
            <a:ext cx="10464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Score : </a:t>
            </a:r>
            <a:r>
              <a:rPr lang="en-US" sz="1300" b="1" dirty="0">
                <a:solidFill>
                  <a:srgbClr val="FF6B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9.8</a:t>
            </a:r>
            <a:r>
              <a:rPr lang="en-US" sz="1300" dirty="0">
                <a:solidFill>
                  <a:srgbClr val="D7E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— </a:t>
            </a:r>
            <a:r>
              <a:rPr lang="en-US" sz="1300" b="1" dirty="0">
                <a:solidFill>
                  <a:srgbClr val="FF6B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2000" y="5669260"/>
            <a:ext cx="109880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valeurs dépendent du scénario réel. Le score CVSS mesure la gravité technique — il ne représente pas à lui seul le risque métier (exposition, valeur des actifs, compensations).</a:t>
            </a:r>
            <a:endParaRPr lang="en-US" sz="12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10 · GRAVITÉ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CWE et CVE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5194300" cy="37782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5194300" cy="3778250"/>
          </a:xfrm>
          <a:custGeom>
            <a:avLst/>
            <a:gdLst/>
            <a:ahLst/>
            <a:cxnLst/>
            <a:rect l="l" t="t" r="r" b="b"/>
            <a:pathLst>
              <a:path w="51943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CWE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catalogue de </a:t>
            </a:r>
            <a:r>
              <a:rPr lang="en-US" sz="13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</a:t>
            </a: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faiblesses (ex. CWE-89 injection SQL).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70"/>
            <a:ext cx="5194300" cy="37782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70"/>
            <a:ext cx="5194300" cy="3778250"/>
          </a:xfrm>
          <a:custGeom>
            <a:avLst/>
            <a:gdLst/>
            <a:ahLst/>
            <a:cxnLst/>
            <a:rect l="l" t="t" r="r" b="b"/>
            <a:pathLst>
              <a:path w="51943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identifiant d'une </a:t>
            </a:r>
            <a:r>
              <a:rPr lang="en-US" sz="13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vulnérabilité concrète</a:t>
            </a: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dans un produit donné.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581412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Classer une faille en CWE et la scorer en CVSS, c'est répondre au point 6 du dossier : gravité et exploitabilité.</a:t>
            </a:r>
            <a:endParaRPr lang="en-US" sz="13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10 · LABO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 de l'unité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Scorer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Attribuer un score CVSS aux vulnérabilités trouvées en Unités 7–8.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7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7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rattacher à un CWE et bâtir un mini risk register.</a:t>
            </a:r>
            <a:endParaRPr lang="en-US" sz="13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10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À retenir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39470" y="1832670"/>
            <a:ext cx="1085062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→ (sanitiseur) → sink : le cadre d'analyse des injections.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teinte se propage à chaque opération ; une alerte naît au sink.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risque se gère : identifier, analyser, traiter, surveiller.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CVSS mesure la gravité ; CWE/CVE classent et référencent.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Unité 10 — Taint analysis, risque &amp; CVSS</a:t>
            </a:r>
            <a:endParaRPr lang="en-US" sz="12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8282"/>
            <a:ext cx="10883392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</a:t>
            </a:r>
            <a:endParaRPr lang="en-US" sz="9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551932"/>
            <a:ext cx="10883392" cy="54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Fuzzing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2800" y="4249738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Trouver des bugs en bombardant d'entrées — le labo phare</a:t>
            </a:r>
            <a:endParaRPr lang="en-US" sz="18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11 · FUZZING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Définition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10566400" cy="153162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10566400" cy="1531620"/>
          </a:xfrm>
          <a:custGeom>
            <a:avLst/>
            <a:gdLst/>
            <a:ahLst/>
            <a:cxnLst/>
            <a:rect l="l" t="t" r="r" b="b"/>
            <a:pathLst>
              <a:path w="10566400" h="1531620">
                <a:moveTo>
                  <a:pt x="76200" y="1531620"/>
                </a:moveTo>
                <a:lnTo>
                  <a:pt x="76200" y="15316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5542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7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Fuzzing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90"/>
            <a:ext cx="10203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Tester un programme en lui envoyant massivement des entrées automatiques, souvent malformées, pour déclencher des plantages révélateurs de bugs.</a:t>
            </a:r>
            <a:endParaRPr lang="en-US" sz="16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11 · FUZZING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Pourquoi ça marche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tests couvrent ce que les utilisateurs </a:t>
            </a:r>
            <a:r>
              <a:rPr lang="en-US" sz="1700" i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</a:t>
            </a: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Le fuzzing explore ce qu'ils </a:t>
            </a:r>
            <a:r>
              <a:rPr lang="en-US" sz="1700" i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feraient jamais</a:t>
            </a: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exactement le terrain de l'attaquant.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6582" y="2640310"/>
            <a:ext cx="1084351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Déclenche des cas limites imprévus par le développeur.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Automatique et infatigable : des millions d'essais.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le point 8, explicitement nommé dans le dossier.</a:t>
            </a:r>
            <a:endParaRPr lang="en-US" sz="14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11 · FUZZING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Deux approches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 mutation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Partir d'entrées valides et les altérer aléatoirement. Simple, efficace.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70"/>
            <a:ext cx="5194300" cy="421259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70"/>
            <a:ext cx="5194300" cy="4212590"/>
          </a:xfrm>
          <a:custGeom>
            <a:avLst/>
            <a:gdLst/>
            <a:ahLst/>
            <a:cxnLst/>
            <a:rect l="l" t="t" r="r" b="b"/>
            <a:pathLst>
              <a:path w="5194300" h="42125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 génération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Produire des entrées à partir d'un modèle du format. Plus précis, plus de travail.</a:t>
            </a:r>
            <a:endParaRPr lang="en-US" sz="13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11 · FUZZING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Guidé par la couverture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fuzzers modernes comme </a:t>
            </a:r>
            <a:r>
              <a:rPr lang="en-US" sz="17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AFL++</a:t>
            </a: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sont </a:t>
            </a:r>
            <a:r>
              <a:rPr lang="en-US" sz="1700" i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coverage-guided</a:t>
            </a: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ils instrumentent le programme pour savoir quelles branches une entrée atteint.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6582" y="2640310"/>
            <a:ext cx="1084351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entrée qui ouvre un nouveau chemin est conservée et re-mutée.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fuzzer « apprend » peu à peu à pénétrer le programme.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Beaucoup plus efficace qu'un fuzzing aléatoire aveugle.</a:t>
            </a:r>
            <a:endParaRPr lang="en-US" sz="14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11 · FUZZING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harness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10566400" cy="1247140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10566400" cy="1247140"/>
          </a:xfrm>
          <a:custGeom>
            <a:avLst/>
            <a:gdLst/>
            <a:ahLst/>
            <a:cxnLst/>
            <a:rect l="l" t="t" r="r" b="b"/>
            <a:pathLst>
              <a:path w="10566400" h="1247140">
                <a:moveTo>
                  <a:pt x="76200" y="1247140"/>
                </a:moveTo>
                <a:lnTo>
                  <a:pt x="76200" y="124714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170940"/>
                </a:lnTo>
                <a:arcTo wR="25400" hR="76200" stAng="108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168400" y="2112070"/>
            <a:ext cx="102031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Harness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400" y="2515890"/>
            <a:ext cx="102031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petit programme qui reçoit l'entrée du fuzzer et la passe à la fonction cible à tester.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28295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bon harness est rapide, déterministe et cible une surface d'entrée précise (un parseur, un décodeur…).</a:t>
            </a:r>
            <a:endParaRPr lang="en-US" sz="130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11 · FUZZING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Fuzzing + ASan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267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Coupler le fuzzing à AddressSanitizer démultiplie la détection.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6582" y="2338090"/>
            <a:ext cx="1084351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 ASan : seuls les plantages francs sont vus.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Avec ASan : même un petit débordement ou un use-after-free déclenche un arrêt net.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la combinaison standard pour trouver des bugs mémoire.</a:t>
            </a:r>
            <a:endParaRPr lang="en-US" sz="140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11 · FUZZING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Corpus et dictionnaires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201" y="1832670"/>
            <a:ext cx="10843895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Corpus de départ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quelques entrées valides variées, pour amorcer.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Dictionnaire</a:t>
            </a: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mots-clés du format (balises, en-têtes magiques) pour aider le fuzzer.</a:t>
            </a:r>
            <a:endParaRPr lang="en-US" sz="1450" dirty="0"/>
          </a:p>
          <a:p>
            <a:pPr marL="169799" indent="-169799" algn="l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bon corpus accélère énormément la découverte.</a:t>
            </a:r>
            <a:endParaRPr lang="en-US" sz="145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11 · FUZZING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Trier les crashs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6582" y="1832670"/>
            <a:ext cx="10843514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Dédupliquer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des milliers de crashs peuvent venir d'un seul bug.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Minimiser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réduire l'entrée au plus petit cas qui reproduit.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Évaluer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le crash est-il exploitable ? (lien avec CVSS, Unité 10).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Documenter chaque bug distinct.</a:t>
            </a:r>
            <a:endParaRPr lang="en-US" sz="140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11 · FUZZING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Une campagne, de bout en bout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32670"/>
            <a:ext cx="10866374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8440" indent="-218440" algn="l">
              <a:lnSpc>
                <a:spcPts val="2030"/>
              </a:lnSpc>
              <a:buSzPct val="100000"/>
              <a:buFontTx/>
              <a:buAutoNum type="arabicPeriod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Compiler la cible instrumentée (AFL++ + ASan).</a:t>
            </a:r>
            <a:endParaRPr lang="en-US" sz="1450" dirty="0"/>
          </a:p>
          <a:p>
            <a:pPr marL="218440" indent="-218440" algn="l">
              <a:lnSpc>
                <a:spcPts val="2030"/>
              </a:lnSpc>
              <a:buSzPct val="100000"/>
              <a:buFontTx/>
              <a:buAutoNum type="arabicPeriod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Écrire le harness et préparer le corpus.</a:t>
            </a:r>
            <a:endParaRPr lang="en-US" sz="1450" dirty="0"/>
          </a:p>
          <a:p>
            <a:pPr marL="218440" indent="-218440" algn="l">
              <a:lnSpc>
                <a:spcPts val="2030"/>
              </a:lnSpc>
              <a:buSzPct val="100000"/>
              <a:buFontTx/>
              <a:buAutoNum type="arabicPeriod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Lancer la campagne, surveiller la couverture.</a:t>
            </a:r>
            <a:endParaRPr lang="en-US" sz="1450" dirty="0"/>
          </a:p>
          <a:p>
            <a:pPr marL="218440" indent="-218440" algn="l">
              <a:lnSpc>
                <a:spcPts val="2030"/>
              </a:lnSpc>
              <a:buSzPct val="100000"/>
              <a:buFontTx/>
              <a:buAutoNum type="arabicPeriod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Trier, minimiser et analyser les crashs.</a:t>
            </a:r>
            <a:endParaRPr lang="en-US" sz="1450" dirty="0"/>
          </a:p>
          <a:p>
            <a:pPr marL="218440" indent="-218440" algn="l">
              <a:lnSpc>
                <a:spcPts val="2030"/>
              </a:lnSpc>
              <a:buSzPct val="100000"/>
              <a:buFontTx/>
              <a:buAutoNum type="arabicPeriod"/>
            </a:pPr>
            <a:r>
              <a:rPr lang="en-US" sz="14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Corriger, puis rejouer pour confirmer.</a:t>
            </a:r>
            <a:endParaRPr lang="en-US" sz="145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11 · FUZZING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62000" y="1127820"/>
            <a:ext cx="1098804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Lire les résultats d'AFL++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653580"/>
            <a:ext cx="109880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AFL++ affiche un tableau de bord en continu. Quatre indicateurs suffisent à suivre une campagne.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2037060"/>
            <a:ext cx="2562225" cy="3702050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Shape 4"/>
          <p:cNvSpPr/>
          <p:nvPr/>
        </p:nvSpPr>
        <p:spPr>
          <a:xfrm>
            <a:off x="762000" y="2037060"/>
            <a:ext cx="2562225" cy="3702050"/>
          </a:xfrm>
          <a:custGeom>
            <a:avLst/>
            <a:gdLst/>
            <a:ahLst/>
            <a:cxnLst/>
            <a:rect l="l" t="t" r="r" b="b"/>
            <a:pathLst>
              <a:path w="2562225" h="37020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2473325" y="0"/>
                </a:lnTo>
                <a:arcTo wR="88900" hR="88900" stAng="16200000" swAng="5400000"/>
                <a:lnTo>
                  <a:pt x="2562225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7" name="Text 5"/>
          <p:cNvSpPr/>
          <p:nvPr/>
        </p:nvSpPr>
        <p:spPr>
          <a:xfrm>
            <a:off x="927100" y="2268240"/>
            <a:ext cx="22989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≈ 8 600/s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27100" y="2649240"/>
            <a:ext cx="2298986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execs/sec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27100" y="2887960"/>
            <a:ext cx="2298986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Vitesse d'exécution. Trop bas = cible lente ou mal instrumentée.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63925" y="2037060"/>
            <a:ext cx="2562225" cy="3702050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1" name="Shape 9"/>
          <p:cNvSpPr/>
          <p:nvPr/>
        </p:nvSpPr>
        <p:spPr>
          <a:xfrm>
            <a:off x="3463925" y="2037060"/>
            <a:ext cx="2562225" cy="3702050"/>
          </a:xfrm>
          <a:custGeom>
            <a:avLst/>
            <a:gdLst/>
            <a:ahLst/>
            <a:cxnLst/>
            <a:rect l="l" t="t" r="r" b="b"/>
            <a:pathLst>
              <a:path w="2562225" h="37020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2473325" y="0"/>
                </a:lnTo>
                <a:arcTo wR="88900" hR="88900" stAng="16200000" swAng="5400000"/>
                <a:lnTo>
                  <a:pt x="2562225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2" name="Text 10"/>
          <p:cNvSpPr/>
          <p:nvPr/>
        </p:nvSpPr>
        <p:spPr>
          <a:xfrm>
            <a:off x="3629025" y="2268240"/>
            <a:ext cx="22989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629025" y="2649240"/>
            <a:ext cx="2298986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corpus count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29025" y="2887960"/>
            <a:ext cx="2298986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Entrées intéressantes conservées : la couverture grandit.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5850" y="2037060"/>
            <a:ext cx="2562225" cy="3702050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6" name="Shape 14"/>
          <p:cNvSpPr/>
          <p:nvPr/>
        </p:nvSpPr>
        <p:spPr>
          <a:xfrm>
            <a:off x="6165850" y="2037060"/>
            <a:ext cx="2562225" cy="3702050"/>
          </a:xfrm>
          <a:custGeom>
            <a:avLst/>
            <a:gdLst/>
            <a:ahLst/>
            <a:cxnLst/>
            <a:rect l="l" t="t" r="r" b="b"/>
            <a:pathLst>
              <a:path w="2562225" h="37020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2473325" y="0"/>
                </a:lnTo>
                <a:arcTo wR="88900" hR="88900" stAng="16200000" swAng="5400000"/>
                <a:lnTo>
                  <a:pt x="2562225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7" name="Text 15"/>
          <p:cNvSpPr/>
          <p:nvPr/>
        </p:nvSpPr>
        <p:spPr>
          <a:xfrm>
            <a:off x="6330950" y="2268240"/>
            <a:ext cx="22989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330950" y="2649240"/>
            <a:ext cx="2298986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saved crashes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30950" y="2887960"/>
            <a:ext cx="2298986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Crashs uniques enregistrés : ce que l'on cherche.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67775" y="2037060"/>
            <a:ext cx="2562225" cy="3702050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1" name="Shape 19"/>
          <p:cNvSpPr/>
          <p:nvPr/>
        </p:nvSpPr>
        <p:spPr>
          <a:xfrm>
            <a:off x="8867775" y="2037060"/>
            <a:ext cx="2562225" cy="3702050"/>
          </a:xfrm>
          <a:custGeom>
            <a:avLst/>
            <a:gdLst/>
            <a:ahLst/>
            <a:cxnLst/>
            <a:rect l="l" t="t" r="r" b="b"/>
            <a:pathLst>
              <a:path w="2562225" h="37020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2473325" y="0"/>
                </a:lnTo>
                <a:arcTo wR="88900" hR="88900" stAng="16200000" swAng="5400000"/>
                <a:lnTo>
                  <a:pt x="2562225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2" name="Text 20"/>
          <p:cNvSpPr/>
          <p:nvPr/>
        </p:nvSpPr>
        <p:spPr>
          <a:xfrm>
            <a:off x="9032875" y="2268240"/>
            <a:ext cx="22989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100 %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9032875" y="2649240"/>
            <a:ext cx="2298986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stability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032875" y="2887960"/>
            <a:ext cx="2298986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Reproductibilité : doit rester proche de 100 %.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2000" y="5891510"/>
            <a:ext cx="1098804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Valeurs réelles d'une campagne du laboratoire (cible vuln.c) : un crash trouvé en ~18 s.</a:t>
            </a:r>
            <a:endParaRPr lang="en-US" sz="115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11 · LABO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 : AFL++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5194300" cy="37782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5194300" cy="3778250"/>
          </a:xfrm>
          <a:custGeom>
            <a:avLst/>
            <a:gdLst/>
            <a:ahLst/>
            <a:cxnLst/>
            <a:rect l="l" t="t" r="r" b="b"/>
            <a:pathLst>
              <a:path w="51943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Fuzzer une cible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Lancer AFL++ sur un parseur C vulnérable, trouver des crashs.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32670"/>
            <a:ext cx="5194300" cy="37782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70"/>
            <a:ext cx="5194300" cy="3778250"/>
          </a:xfrm>
          <a:custGeom>
            <a:avLst/>
            <a:gdLst/>
            <a:ahLst/>
            <a:cxnLst/>
            <a:rect l="l" t="t" r="r" b="b"/>
            <a:pathLst>
              <a:path w="5194300" h="377825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Rejouer un crash, le minimiser, écrire un harness, évaluer l'impact.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581412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labo phare du cours ; se déroule sur l'image Docker locale.</a:t>
            </a:r>
            <a:endParaRPr lang="en-US" sz="13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11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À retenir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39470" y="1832670"/>
            <a:ext cx="1085062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fuzzing explore les entrées inattendues, là où vivent les bugs.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Coverage-guided (AFL++) : le fuzzer apprend à pénétrer le code.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Couplé à ASan, il révèle même les petites corruptions.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triage (dédup, minimisation, exploitabilité) transforme les crashs en bugs actionnables.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Unité 11 — Fuzzing</a:t>
            </a:r>
            <a:endParaRPr lang="en-US" sz="12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8282"/>
            <a:ext cx="10883392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endParaRPr lang="en-US" sz="9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551932"/>
            <a:ext cx="10883392" cy="54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Projet de synthèse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2800" y="4249738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 final de sécurité logicielle — trois niveaux de difficulté au choix</a:t>
            </a:r>
            <a:endParaRPr lang="en-US" sz="18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12 · PROJET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Objectifs pédagogiques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5194300" cy="3787140"/>
          </a:xfrm>
          <a:prstGeom prst="roundRect">
            <a:avLst>
              <a:gd name="adj" fmla="val 23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5194300" cy="3787140"/>
          </a:xfrm>
          <a:custGeom>
            <a:avLst/>
            <a:gdLst/>
            <a:ahLst/>
            <a:cxnLst/>
            <a:rect l="l" t="t" r="r" b="b"/>
            <a:pathLst>
              <a:path w="5194300" h="378714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Acquis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Identifier, expliquer et corriger des vulnérabilités logicielles.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4900" y="1832670"/>
            <a:ext cx="5194300" cy="3787140"/>
          </a:xfrm>
          <a:prstGeom prst="roundRect">
            <a:avLst>
              <a:gd name="adj" fmla="val 23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70"/>
            <a:ext cx="5194300" cy="3787140"/>
          </a:xfrm>
          <a:custGeom>
            <a:avLst/>
            <a:gdLst/>
            <a:ahLst/>
            <a:cxnLst/>
            <a:rect l="l" t="t" r="r" b="b"/>
            <a:pathLst>
              <a:path w="5194300" h="378714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Acquis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Appliquer une démarche de conception et de développement sécurisé.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2800" y="5822950"/>
            <a:ext cx="108833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L'accent est mis sur la compréhension, la correction et la vérification des vulnérabilités — pas sur la complexité du développement.</a:t>
            </a:r>
            <a:endParaRPr lang="en-US" sz="125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12 · PROJET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Trois projets au choix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3420507" cy="356489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3420507" cy="3564890"/>
          </a:xfrm>
          <a:custGeom>
            <a:avLst/>
            <a:gdLst/>
            <a:ahLst/>
            <a:cxnLst/>
            <a:rect l="l" t="t" r="r" b="b"/>
            <a:pathLst>
              <a:path w="3420507" h="35648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30522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Niveau 1 — Débutant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305220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Auditer et corriger une application Flask vulnérable fournie.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5707" y="1832670"/>
            <a:ext cx="3420586" cy="356489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4385707" y="1832670"/>
            <a:ext cx="3420586" cy="3564890"/>
          </a:xfrm>
          <a:custGeom>
            <a:avLst/>
            <a:gdLst/>
            <a:ahLst/>
            <a:cxnLst/>
            <a:rect l="l" t="t" r="r" b="b"/>
            <a:pathLst>
              <a:path w="3420586" h="35648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86" y="0"/>
                </a:lnTo>
                <a:arcTo wR="88900" hR="88900" stAng="16200000" swAng="5400000"/>
                <a:lnTo>
                  <a:pt x="3420586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4614307" y="2101850"/>
            <a:ext cx="30522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Niveau 2 — Intermédiaire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4307" y="2406650"/>
            <a:ext cx="305228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Sécuriser une mini-API existante (Flask + SQLite).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8693" y="1832670"/>
            <a:ext cx="3420507" cy="356489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3" name="Shape 11"/>
          <p:cNvSpPr/>
          <p:nvPr/>
        </p:nvSpPr>
        <p:spPr>
          <a:xfrm>
            <a:off x="7958693" y="1832670"/>
            <a:ext cx="3420507" cy="3564890"/>
          </a:xfrm>
          <a:custGeom>
            <a:avLst/>
            <a:gdLst/>
            <a:ahLst/>
            <a:cxnLst/>
            <a:rect l="l" t="t" r="r" b="b"/>
            <a:pathLst>
              <a:path w="3420507" h="356489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1B243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8187293" y="2101850"/>
            <a:ext cx="30522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Niveau 3 — Avancé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87293" y="2406650"/>
            <a:ext cx="305220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Concevoir et auditer une petite application.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2800" y="5600700"/>
            <a:ext cx="1088339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L'étudiant choisit UN seul projet. Chaque niveau permet d'obtenir 20/20 : la rigueur de l'analyse, des preuves et des corrections prime sur la complexité.</a:t>
            </a:r>
            <a:endParaRPr lang="en-US" sz="125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12 · PROJET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Démarche commune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30501" y="1832670"/>
            <a:ext cx="10858833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0899" indent="-210899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Comprendre l'application et identifier les risques.</a:t>
            </a:r>
            <a:endParaRPr lang="en-US" sz="1400" dirty="0"/>
          </a:p>
          <a:p>
            <a:pPr marL="210899" indent="-210899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Rechercher et reproduire les vulnérabilités.</a:t>
            </a:r>
            <a:endParaRPr lang="en-US" sz="1400" dirty="0"/>
          </a:p>
          <a:p>
            <a:pPr marL="210899" indent="-210899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Appliquer les corrections adaptées.</a:t>
            </a:r>
            <a:endParaRPr lang="en-US" sz="1400" dirty="0"/>
          </a:p>
          <a:p>
            <a:pPr marL="210899" indent="-210899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Effectuer les tests après correction.</a:t>
            </a:r>
            <a:endParaRPr lang="en-US" sz="1400" dirty="0"/>
          </a:p>
          <a:p>
            <a:pPr marL="210899" indent="-210899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Documenter et présenter les résultats.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280470"/>
            <a:ext cx="108833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outils s'adaptent au langage et au niveau : on n'impose pas AFL++, ASan ou UBSan à une application Python.</a:t>
            </a:r>
            <a:endParaRPr lang="en-US" sz="125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12 · PROJET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Livrables et évaluation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32670"/>
            <a:ext cx="5194300" cy="3787140"/>
          </a:xfrm>
          <a:prstGeom prst="roundRect">
            <a:avLst>
              <a:gd name="adj" fmla="val 23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812800" y="1832670"/>
            <a:ext cx="5194300" cy="3787140"/>
          </a:xfrm>
          <a:custGeom>
            <a:avLst/>
            <a:gdLst/>
            <a:ahLst/>
            <a:cxnLst/>
            <a:rect l="l" t="t" r="r" b="b"/>
            <a:pathLst>
              <a:path w="5194300" h="378714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2C6E8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10414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Livrables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406650"/>
            <a:ext cx="4879213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Rapport selon le niveau : 4-5 p. (N1) · 6-8 p. (N2) · 8-10 p. (N3). + code reproductible, preuves de tests, démonstration orale (5-10 min).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4900" y="1832670"/>
            <a:ext cx="5194300" cy="3787140"/>
          </a:xfrm>
          <a:prstGeom prst="roundRect">
            <a:avLst>
              <a:gd name="adj" fmla="val 23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9" name="Shape 7"/>
          <p:cNvSpPr/>
          <p:nvPr/>
        </p:nvSpPr>
        <p:spPr>
          <a:xfrm>
            <a:off x="6184900" y="1832670"/>
            <a:ext cx="5194300" cy="3787140"/>
          </a:xfrm>
          <a:custGeom>
            <a:avLst/>
            <a:gdLst/>
            <a:ahLst/>
            <a:cxnLst/>
            <a:rect l="l" t="t" r="r" b="b"/>
            <a:pathLst>
              <a:path w="5194300" h="3787140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05400" y="0"/>
                </a:lnTo>
                <a:arcTo wR="88900" hR="88900" stAng="16200000" swAng="5400000"/>
                <a:lnTo>
                  <a:pt x="5194300" y="88900"/>
                </a:lnTo>
                <a:arcTo wR="88900" hR="44450" stAng="0" swAng="-5400000"/>
                <a:lnTo>
                  <a:pt x="88900" y="44450"/>
                </a:lnTo>
                <a:arcTo wR="88900" hR="44450" stAng="16200000" swAng="-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6413500" y="210185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Barème commun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3500" y="2406650"/>
            <a:ext cx="4879213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Compréhension et explication des vulnérabilités 25% · Démarche d'analyse et preuves de tests 25% · Pertinence des corrections et re-tests 30% · Clarté du rapport et de la démonstration 20%.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2800" y="5822950"/>
            <a:ext cx="108833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niveau choisi n'apporte ni bonus ni pénalité : la rigueur du travail détermine la note.</a:t>
            </a:r>
            <a:endParaRPr lang="en-US" sz="125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12 · SYNTHÈSE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Synthèse : la checklist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3313" y="1832670"/>
            <a:ext cx="526427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687" indent="-162687" algn="l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Identifier les entrées non fiables.</a:t>
            </a:r>
            <a:endParaRPr lang="en-US" sz="1350" dirty="0"/>
          </a:p>
          <a:p>
            <a:pPr marL="162687" indent="-162687" algn="l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Comprendre les vulnérabilités.</a:t>
            </a:r>
            <a:endParaRPr lang="en-US" sz="1350" dirty="0"/>
          </a:p>
          <a:p>
            <a:pPr marL="162687" indent="-162687" algn="l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Choisir les contre-mesures adaptées.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63513" y="1832670"/>
            <a:ext cx="526427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687" indent="-162687" algn="l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Corriger les causes des failles.</a:t>
            </a:r>
            <a:endParaRPr lang="en-US" sz="1350" dirty="0"/>
          </a:p>
          <a:p>
            <a:pPr marL="162687" indent="-162687" algn="l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Vérifier les corrections par des tests reproductibles.</a:t>
            </a:r>
            <a:endParaRPr lang="en-US" sz="1350" dirty="0"/>
          </a:p>
          <a:p>
            <a:pPr marL="162687" indent="-162687" algn="l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Justifier les choix de sécurité.</a:t>
            </a:r>
            <a:endParaRPr lang="en-US" sz="135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584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 DU COURS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974975"/>
            <a:ext cx="10883392" cy="542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70"/>
              </a:lnSpc>
              <a:buNone/>
            </a:pPr>
            <a:r>
              <a:rPr lang="en-US" sz="3700" b="1" i="0" dirty="0">
                <a:solidFill>
                  <a:srgbClr val="F6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Deux principes couvrent presque tout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12800" y="3695105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9AA6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Qui a le droit de lire ou d'écrire cet emplacement, et quand ? » pour la mémoire. « Séparer le code des données » pour les injections. Le reste en découle.</a:t>
            </a:r>
            <a:endParaRPr lang="en-US" sz="17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6E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UNITÉ 12 · PROJET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42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Critères d'évaluation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39470" y="1832670"/>
            <a:ext cx="1085062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Pertinence des solutions retenues.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du temps alloué.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Cohérence de la justification.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Clarté et précision du vocabulaire technique.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ware Security — Support de cours complet">
  <a:themeElements>
    <a:clrScheme name="Software Security — Support de cours complet">
      <a:dk1>
        <a:srgbClr val="1B2430"/>
      </a:dk1>
      <a:lt1>
        <a:srgbClr val="F6F7F9"/>
      </a:lt1>
      <a:dk2>
        <a:srgbClr val="525962"/>
      </a:dk2>
      <a:lt2>
        <a:srgbClr val="E0E2E5"/>
      </a:lt2>
      <a:accent1>
        <a:srgbClr val="C0392B"/>
      </a:accent1>
      <a:accent2>
        <a:srgbClr val="2C6E8F"/>
      </a:accent2>
      <a:accent3>
        <a:srgbClr val="F0E2C4"/>
      </a:accent3>
      <a:accent4>
        <a:srgbClr val="E0999A"/>
      </a:accent4>
      <a:accent5>
        <a:srgbClr val="E08900"/>
      </a:accent5>
      <a:accent6>
        <a:srgbClr val="2E7D32"/>
      </a:accent6>
      <a:hlink>
        <a:srgbClr val="0563C1"/>
      </a:hlink>
      <a:folHlink>
        <a:srgbClr val="954F72"/>
      </a:folHlink>
    </a:clrScheme>
    <a:fontScheme name="Software Security — Support de cours complet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14476</Words>
  <Application>Microsoft Office PowerPoint</Application>
  <PresentationFormat>Widescreen</PresentationFormat>
  <Paragraphs>1906</Paragraphs>
  <Slides>228</Slides>
  <Notes>228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228</vt:i4>
      </vt:variant>
    </vt:vector>
  </HeadingPairs>
  <TitlesOfParts>
    <vt:vector size="233" baseType="lpstr">
      <vt:lpstr>Arial</vt:lpstr>
      <vt:lpstr>Courier New</vt:lpstr>
      <vt:lpstr>Inter</vt:lpstr>
      <vt:lpstr>Space Grotesk</vt:lpstr>
      <vt:lpstr>Software Security — Support de cours complet</vt:lpstr>
      <vt:lpstr>Software Security</vt:lpstr>
      <vt:lpstr>Ce que vous saurez faire</vt:lpstr>
      <vt:lpstr>Le déroulé du cours</vt:lpstr>
      <vt:lpstr>Comment on travaille</vt:lpstr>
      <vt:lpstr>Évaluation</vt:lpstr>
      <vt:lpstr>Introduction à la sécurité logicielle</vt:lpstr>
      <vt:lpstr>Qu'est-ce que la sécurité logicielle ?</vt:lpstr>
      <vt:lpstr>Fiabilité ≠ sécurité</vt:lpstr>
      <vt:lpstr>L'adversaire change tout</vt:lpstr>
      <vt:lpstr>La triade CIA</vt:lpstr>
      <vt:lpstr>Confidentialité</vt:lpstr>
      <vt:lpstr>Intégrité</vt:lpstr>
      <vt:lpstr>Disponibilité</vt:lpstr>
      <vt:lpstr>Souvent étendue : CIAAA</vt:lpstr>
      <vt:lpstr>Pourquoi c'est difficile</vt:lpstr>
      <vt:lpstr>Le défenseur doit tout fermer. L'attaquant n'a besoin que d'une faille.</vt:lpstr>
      <vt:lpstr>Terminologie (1/2)</vt:lpstr>
      <vt:lpstr>Terminologie (2/2)</vt:lpstr>
      <vt:lpstr>Le risque se quantifie</vt:lpstr>
      <vt:lpstr>Attaques passives et actives</vt:lpstr>
      <vt:lpstr>Surface d'attaque</vt:lpstr>
      <vt:lpstr>Trois catégories de surface</vt:lpstr>
      <vt:lpstr>Frontières de confiance</vt:lpstr>
      <vt:lpstr>Modélisation des menaces</vt:lpstr>
      <vt:lpstr>STRIDE — six familles de menaces</vt:lpstr>
      <vt:lpstr>Acteurs et actifs</vt:lpstr>
      <vt:lpstr>Menace, vulnérabilité, impact, risque</vt:lpstr>
      <vt:lpstr>Priorisation qualitative des risques</vt:lpstr>
      <vt:lpstr>Contre-mesures</vt:lpstr>
      <vt:lpstr>Risque résiduel</vt:lpstr>
      <vt:lpstr>Vérifier un contrôle de sécurité</vt:lpstr>
      <vt:lpstr>Principes de conception (1/2)</vt:lpstr>
      <vt:lpstr>Principes de conception (2/2)</vt:lpstr>
      <vt:lpstr>Défense en profondeur — côté logiciel</vt:lpstr>
      <vt:lpstr>OWASP et le Top 10 (2025)</vt:lpstr>
      <vt:lpstr>Deux grandes familles</vt:lpstr>
      <vt:lpstr>1988 — Morris worm</vt:lpstr>
      <vt:lpstr>2014 — Heartbleed</vt:lpstr>
      <vt:lpstr>2017 — Equifax</vt:lpstr>
      <vt:lpstr>2011 — Sony PSN</vt:lpstr>
      <vt:lpstr>À retenir</vt:lpstr>
      <vt:lpstr>Sécurité mémoire &amp; stack overflow</vt:lpstr>
      <vt:lpstr>La mémoire d'un processus</vt:lpstr>
      <vt:lpstr>Pile et tas, sens opposés</vt:lpstr>
      <vt:lpstr>Octets, mots, hexadécimal</vt:lpstr>
      <vt:lpstr>Little-endian, offset, padding</vt:lpstr>
      <vt:lpstr>Pointeurs</vt:lpstr>
      <vt:lpstr>Tableaux et chaînes</vt:lpstr>
      <vt:lpstr>Le C ne vérifie jamais les bornes</vt:lpstr>
      <vt:lpstr>Fonctions C dangereuses</vt:lpstr>
      <vt:lpstr>Registres x86 (32 bits)</vt:lpstr>
      <vt:lpstr>Instructions et trame d'exécution</vt:lpstr>
      <vt:lpstr>Définition</vt:lpstr>
      <vt:lpstr>Exemple minimal</vt:lpstr>
      <vt:lpstr>La frame de greet en mémoire</vt:lpstr>
      <vt:lpstr>Écraser l'adresse de retour</vt:lpstr>
      <vt:lpstr>Du crash au contrôle</vt:lpstr>
      <vt:lpstr>Observer avec GDB</vt:lpstr>
      <vt:lpstr>Shellcode</vt:lpstr>
      <vt:lpstr>NOP sled</vt:lpstr>
      <vt:lpstr>Assemblage de l'exploit</vt:lpstr>
      <vt:lpstr>Obtenir un shell : execve</vt:lpstr>
      <vt:lpstr>Contraintes du shellcode</vt:lpstr>
      <vt:lpstr>Fiabiliser avec jmp esp</vt:lpstr>
      <vt:lpstr>Heap overflow</vt:lpstr>
      <vt:lpstr>Protections mémoire (aperçu)</vt:lpstr>
      <vt:lpstr>Copies bornées (et leurs pièges)</vt:lpstr>
      <vt:lpstr>Corriger la faille ≠ atténuer l'exploitation</vt:lpstr>
      <vt:lpstr>Les labos de l'unité</vt:lpstr>
      <vt:lpstr>À retenir</vt:lpstr>
      <vt:lpstr>Heap &amp; erreurs temporelles</vt:lpstr>
      <vt:lpstr>Deux familles d'erreurs mémoire</vt:lpstr>
      <vt:lpstr>L'allocateur et ses chunks</vt:lpstr>
      <vt:lpstr>Heap overflow</vt:lpstr>
      <vt:lpstr>Définition</vt:lpstr>
      <vt:lpstr>Exemple</vt:lpstr>
      <vt:lpstr>Le schéma d'exploitation</vt:lpstr>
      <vt:lpstr>Les trois temps du UAF</vt:lpstr>
      <vt:lpstr>Libérer deux fois</vt:lpstr>
      <vt:lpstr>Pourquoi ça arrive</vt:lpstr>
      <vt:lpstr>Lecture de mémoire non initialisée</vt:lpstr>
      <vt:lpstr>Définition</vt:lpstr>
      <vt:lpstr>Pourquoi c'est dangereux</vt:lpstr>
      <vt:lpstr>Invalidation d'itérateur (C++)</vt:lpstr>
      <vt:lpstr>Le mot-clé restrict</vt:lpstr>
      <vt:lpstr>Heartbleed en détail</vt:lpstr>
      <vt:lpstr>« Qui a le droit de lire ou d'écrire cet emplacement, et quand ? »</vt:lpstr>
      <vt:lpstr>AddressSanitizer (ASan)</vt:lpstr>
      <vt:lpstr>Valgrind Memcheck &amp; complémentarité</vt:lpstr>
      <vt:lpstr>Labo de l'unité</vt:lpstr>
      <vt:lpstr>À retenir</vt:lpstr>
      <vt:lpstr>Défenses &amp; contournements</vt:lpstr>
      <vt:lpstr>Deux grandes approches</vt:lpstr>
      <vt:lpstr>Stack canary</vt:lpstr>
      <vt:lpstr>Limites du canary</vt:lpstr>
      <vt:lpstr>NX / DEP</vt:lpstr>
      <vt:lpstr>Si on ne peut plus exécuter ses octets, on réutilise ceux du programme</vt:lpstr>
      <vt:lpstr>ret2libc</vt:lpstr>
      <vt:lpstr>ROP : Return-Oriented Programming</vt:lpstr>
      <vt:lpstr>Une chaîne ROP</vt:lpstr>
      <vt:lpstr>ASLR</vt:lpstr>
      <vt:lpstr>Déjouer l'ASLR</vt:lpstr>
      <vt:lpstr>PIE et RELRO</vt:lpstr>
      <vt:lpstr>Tableau des défenses</vt:lpstr>
      <vt:lpstr>Durcir le code à la source</vt:lpstr>
      <vt:lpstr>Aucune défense n'est suffisante seule</vt:lpstr>
      <vt:lpstr>Vérifier les protections d'un binaire avec readelf</vt:lpstr>
      <vt:lpstr>Labo de l'unité</vt:lpstr>
      <vt:lpstr>À retenir</vt:lpstr>
      <vt:lpstr>Analyse de binaires &amp; sanitizers</vt:lpstr>
      <vt:lpstr>Pourquoi analyser un binaire ?</vt:lpstr>
      <vt:lpstr>Statique ou dynamique ?</vt:lpstr>
      <vt:lpstr>Premiers réflexes</vt:lpstr>
      <vt:lpstr>objdump : désassembler</vt:lpstr>
      <vt:lpstr>gdb / pwndbg</vt:lpstr>
      <vt:lpstr>radare2 et Ghidra</vt:lpstr>
      <vt:lpstr>Analyser une « boîte noire »</vt:lpstr>
      <vt:lpstr>AddressSanitizer (ASan)</vt:lpstr>
      <vt:lpstr>UBSan</vt:lpstr>
      <vt:lpstr>Exemple de sortie ASan</vt:lpstr>
      <vt:lpstr>Lire un rapport ASan</vt:lpstr>
      <vt:lpstr>Lire un rapport UBSan</vt:lpstr>
      <vt:lpstr>Fonctions C dangereuses</vt:lpstr>
      <vt:lpstr>Dépassements d'entiers</vt:lpstr>
      <vt:lpstr>Méthodologie d'audit</vt:lpstr>
      <vt:lpstr>CWE &amp; remédiations</vt:lpstr>
      <vt:lpstr>Limites des sanitizers</vt:lpstr>
      <vt:lpstr>Limites des outils</vt:lpstr>
      <vt:lpstr>Labo de l'unité</vt:lpstr>
      <vt:lpstr>À retenir</vt:lpstr>
      <vt:lpstr>Langages memory-safe</vt:lpstr>
      <vt:lpstr>La question profonde, encore</vt:lpstr>
      <vt:lpstr>Le pari de Rust</vt:lpstr>
      <vt:lpstr>Trois idées, vérifiées statiquement</vt:lpstr>
      <vt:lpstr>Le déplacement (move)</vt:lpstr>
      <vt:lpstr>La règle d'aliasing</vt:lpstr>
      <vt:lpstr>En pratique</vt:lpstr>
      <vt:lpstr>Pourquoi la règle suffit</vt:lpstr>
      <vt:lpstr>Durées de vie</vt:lpstr>
      <vt:lpstr>Invalidation d'itérateur, résorbée</vt:lpstr>
      <vt:lpstr>De la vulnérabilité C au refus de compilation Rust</vt:lpstr>
      <vt:lpstr>Modèle de coût : C/C++ vs Rust sûr</vt:lpstr>
      <vt:lpstr>L'échappatoire : unsafe</vt:lpstr>
      <vt:lpstr>Ce que Rust ne résout pas</vt:lpstr>
      <vt:lpstr>À retenir</vt:lpstr>
      <vt:lpstr>Attaques par injection &amp; SQLi</vt:lpstr>
      <vt:lpstr>Définition</vt:lpstr>
      <vt:lpstr>Toujours le même motif</vt:lpstr>
      <vt:lpstr>Les variantes</vt:lpstr>
      <vt:lpstr>Le problème : la concaténation</vt:lpstr>
      <vt:lpstr>Code vulnérable</vt:lpstr>
      <vt:lpstr>L'attaque</vt:lpstr>
      <vt:lpstr>Bobby Tables (xkcd 327)</vt:lpstr>
      <vt:lpstr>Quelques formes de SQLi</vt:lpstr>
      <vt:lpstr>Le remède : requêtes paramétrées</vt:lpstr>
      <vt:lpstr>Code corrigé</vt:lpstr>
      <vt:lpstr>Deux canaux séparés</vt:lpstr>
      <vt:lpstr>En pratique</vt:lpstr>
      <vt:lpstr>Labo : Flask et Juice Shop</vt:lpstr>
      <vt:lpstr>À retenir</vt:lpstr>
      <vt:lpstr>Commandes, chemins &amp; XSS</vt:lpstr>
      <vt:lpstr>Injection de commandes OS</vt:lpstr>
      <vt:lpstr>Code vulnérable</vt:lpstr>
      <vt:lpstr>Le remède : argv séparé</vt:lpstr>
      <vt:lpstr>Éviter le shell, ou échapper</vt:lpstr>
      <vt:lpstr>Traversal de chemin</vt:lpstr>
      <vt:lpstr>Code vulnérable</vt:lpstr>
      <vt:lpstr>Le remède</vt:lpstr>
      <vt:lpstr>Cross-site scripting</vt:lpstr>
      <vt:lpstr>Code vulnérable</vt:lpstr>
      <vt:lpstr>Trois formes de XSS</vt:lpstr>
      <vt:lpstr>Le remède</vt:lpstr>
      <vt:lpstr>Labo : Flask et Juice Shop</vt:lpstr>
      <vt:lpstr>À retenir</vt:lpstr>
      <vt:lpstr>Bonnes pratiques &amp; analyse statique</vt:lpstr>
      <vt:lpstr>Cinq défauts critiques récurrents</vt:lpstr>
      <vt:lpstr>Programmation défensive</vt:lpstr>
      <vt:lpstr>Security by design</vt:lpstr>
      <vt:lpstr>Valider l'entrée</vt:lpstr>
      <vt:lpstr>Encodages &amp; canonicalisation</vt:lpstr>
      <vt:lpstr>Entrées numériques</vt:lpstr>
      <vt:lpstr>Variables d'environnement</vt:lpstr>
      <vt:lpstr>Race conditions &amp; TOCTOU</vt:lpstr>
      <vt:lpstr>Moindre privilège</vt:lpstr>
      <vt:lpstr>Gérer la sortie</vt:lpstr>
      <vt:lpstr>Analyse statique (SAST)</vt:lpstr>
      <vt:lpstr>Outils et usage</vt:lpstr>
      <vt:lpstr>Lire et interpréter un rapport SAST</vt:lpstr>
      <vt:lpstr>Limites</vt:lpstr>
      <vt:lpstr>Labo de l'unité</vt:lpstr>
      <vt:lpstr>À retenir</vt:lpstr>
      <vt:lpstr>Taint analysis, risque &amp; CVSS</vt:lpstr>
      <vt:lpstr>L'objectif</vt:lpstr>
      <vt:lpstr>Trois notions</vt:lpstr>
      <vt:lpstr>Analyse de teinte dynamique</vt:lpstr>
      <vt:lpstr>Règle de propagation</vt:lpstr>
      <vt:lpstr>Exemple à tracer</vt:lpstr>
      <vt:lpstr>Le shadow store, ligne par ligne</vt:lpstr>
      <vt:lpstr>Étape 4 : alerte au sink</vt:lpstr>
      <vt:lpstr>Gérer le risque</vt:lpstr>
      <vt:lpstr>Un risk register</vt:lpstr>
      <vt:lpstr>Traiter le risque</vt:lpstr>
      <vt:lpstr>CVSS : scorer la gravité</vt:lpstr>
      <vt:lpstr>CVSS v3.1 — Construire un vecteur de base</vt:lpstr>
      <vt:lpstr>CWE et CVE</vt:lpstr>
      <vt:lpstr>Labo de l'unité</vt:lpstr>
      <vt:lpstr>À retenir</vt:lpstr>
      <vt:lpstr>Fuzzing</vt:lpstr>
      <vt:lpstr>Définition</vt:lpstr>
      <vt:lpstr>Pourquoi ça marche</vt:lpstr>
      <vt:lpstr>Deux approches</vt:lpstr>
      <vt:lpstr>Guidé par la couverture</vt:lpstr>
      <vt:lpstr>Le harness</vt:lpstr>
      <vt:lpstr>Fuzzing + ASan</vt:lpstr>
      <vt:lpstr>Corpus et dictionnaires</vt:lpstr>
      <vt:lpstr>Trier les crashs</vt:lpstr>
      <vt:lpstr>Une campagne, de bout en bout</vt:lpstr>
      <vt:lpstr>Lire les résultats d'AFL++</vt:lpstr>
      <vt:lpstr>Labo : AFL++</vt:lpstr>
      <vt:lpstr>À retenir</vt:lpstr>
      <vt:lpstr>Projet de synthèse</vt:lpstr>
      <vt:lpstr>Objectifs pédagogiques</vt:lpstr>
      <vt:lpstr>Trois projets au choix</vt:lpstr>
      <vt:lpstr>Démarche commune</vt:lpstr>
      <vt:lpstr>Livrables et évaluation</vt:lpstr>
      <vt:lpstr>Synthèse : la checklist</vt:lpstr>
      <vt:lpstr>Deux principes couvrent presque tout</vt:lpstr>
      <vt:lpstr>Critères d'évaluation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— Support de cours complet</dc:title>
  <dc:subject/>
  <dc:creator/>
  <cp:lastModifiedBy>Ibtissam Derfoufi</cp:lastModifiedBy>
  <cp:revision>3</cp:revision>
  <dcterms:created xsi:type="dcterms:W3CDTF">2026-10-13T18:01:31Z</dcterms:created>
  <dcterms:modified xsi:type="dcterms:W3CDTF">2026-10-13T18:43:42Z</dcterms:modified>
</cp:coreProperties>
</file>